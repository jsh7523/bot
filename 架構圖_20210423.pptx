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48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13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43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153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14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99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67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34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57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38003-3CA9-47A1-8D82-25563CB5412A}" type="datetimeFigureOut">
              <a:rPr lang="zh-TW" altLang="en-US" smtClean="0"/>
              <a:t>2021/4/26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A739E-0942-41D5-9800-2137FDE807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20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5947572" y="1301219"/>
            <a:ext cx="3611644" cy="3388674"/>
          </a:xfrm>
          <a:prstGeom prst="roundRect">
            <a:avLst>
              <a:gd name="adj" fmla="val 5819"/>
            </a:avLst>
          </a:prstGeom>
          <a:solidFill>
            <a:srgbClr val="DEEBF7"/>
          </a:solidFill>
          <a:ln w="38100" cap="flat" cmpd="sng" algn="ctr">
            <a:noFill/>
            <a:prstDash val="dash"/>
          </a:ln>
          <a:effectLst/>
        </p:spPr>
        <p:txBody>
          <a:bodyPr lIns="68580" tIns="68580" rIns="68580" bIns="68580" numCol="1" rtlCol="0" anchor="ctr">
            <a:noAutofit/>
          </a:bodyPr>
          <a:lstStyle/>
          <a:p>
            <a:pPr marL="447675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888218" y="1301220"/>
            <a:ext cx="1950874" cy="3388673"/>
          </a:xfrm>
          <a:prstGeom prst="roundRect">
            <a:avLst>
              <a:gd name="adj" fmla="val 5819"/>
            </a:avLst>
          </a:prstGeom>
          <a:solidFill>
            <a:srgbClr val="DEEBF7"/>
          </a:solidFill>
          <a:ln w="38100" cap="flat" cmpd="sng" algn="ctr">
            <a:noFill/>
            <a:prstDash val="dash"/>
          </a:ln>
          <a:effectLst/>
        </p:spPr>
        <p:txBody>
          <a:bodyPr lIns="68580" tIns="68580" rIns="68580" bIns="68580" numCol="1" rtlCol="0" anchor="ctr">
            <a:noAutofit/>
          </a:bodyPr>
          <a:lstStyle/>
          <a:p>
            <a:pPr marL="447675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4215130" y="1451419"/>
            <a:ext cx="1375073" cy="726610"/>
            <a:chOff x="2545546" y="1057197"/>
            <a:chExt cx="1375073" cy="726610"/>
          </a:xfrm>
        </p:grpSpPr>
        <p:grpSp>
          <p:nvGrpSpPr>
            <p:cNvPr id="7" name="群組 6"/>
            <p:cNvGrpSpPr/>
            <p:nvPr/>
          </p:nvGrpSpPr>
          <p:grpSpPr>
            <a:xfrm>
              <a:off x="2545546" y="1057197"/>
              <a:ext cx="1375073" cy="726610"/>
              <a:chOff x="3768066" y="2402040"/>
              <a:chExt cx="1641847" cy="806635"/>
            </a:xfrm>
          </p:grpSpPr>
          <p:pic>
            <p:nvPicPr>
              <p:cNvPr id="9" name="圖片 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" name="文字方塊 9"/>
              <p:cNvSpPr txBox="1"/>
              <p:nvPr/>
            </p:nvSpPr>
            <p:spPr>
              <a:xfrm>
                <a:off x="4352500" y="2637660"/>
                <a:ext cx="1057413" cy="410008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臺銀房貸網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Web Server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8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408" y="1420502"/>
              <a:ext cx="304366" cy="322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群組 10"/>
          <p:cNvGrpSpPr/>
          <p:nvPr/>
        </p:nvGrpSpPr>
        <p:grpSpPr>
          <a:xfrm>
            <a:off x="2133652" y="2211635"/>
            <a:ext cx="1149386" cy="1249648"/>
            <a:chOff x="464068" y="1817413"/>
            <a:chExt cx="1149386" cy="1249648"/>
          </a:xfrm>
        </p:grpSpPr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4">
              <a:duotone>
                <a:srgbClr val="84ACB6">
                  <a:shade val="45000"/>
                  <a:satMod val="135000"/>
                </a:srgbClr>
                <a:prstClr val="white"/>
              </a:duotone>
              <a:extLst/>
            </a:blip>
            <a:stretch>
              <a:fillRect/>
            </a:stretch>
          </p:blipFill>
          <p:spPr>
            <a:xfrm>
              <a:off x="585964" y="1817413"/>
              <a:ext cx="1027490" cy="877454"/>
            </a:xfrm>
            <a:prstGeom prst="rect">
              <a:avLst/>
            </a:prstGeom>
          </p:spPr>
        </p:pic>
        <p:grpSp>
          <p:nvGrpSpPr>
            <p:cNvPr id="13" name="群組 12"/>
            <p:cNvGrpSpPr>
              <a:grpSpLocks noChangeAspect="1"/>
            </p:cNvGrpSpPr>
            <p:nvPr/>
          </p:nvGrpSpPr>
          <p:grpSpPr>
            <a:xfrm>
              <a:off x="464068" y="2568582"/>
              <a:ext cx="935464" cy="498479"/>
              <a:chOff x="-1009629" y="4005969"/>
              <a:chExt cx="1767663" cy="971211"/>
            </a:xfrm>
          </p:grpSpPr>
          <p:grpSp>
            <p:nvGrpSpPr>
              <p:cNvPr id="17" name="Group 22">
                <a:extLst>
                  <a:ext uri="{FF2B5EF4-FFF2-40B4-BE49-F238E27FC236}">
                    <a16:creationId xmlns:a16="http://schemas.microsoft.com/office/drawing/2014/main" id="{CC285B80-8E69-4A61-8887-FD2E1D28E52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1009629" y="4005969"/>
                <a:ext cx="1767663" cy="971211"/>
                <a:chOff x="-548507" y="477868"/>
                <a:chExt cx="11570449" cy="6357177"/>
              </a:xfrm>
            </p:grpSpPr>
            <p:sp>
              <p:nvSpPr>
                <p:cNvPr id="19" name="Freeform: Shape 23">
                  <a:extLst>
                    <a:ext uri="{FF2B5EF4-FFF2-40B4-BE49-F238E27FC236}">
                      <a16:creationId xmlns:a16="http://schemas.microsoft.com/office/drawing/2014/main" id="{CB5FB9FB-60F4-461E-93D4-7F72C4E31B84}"/>
                    </a:ext>
                  </a:extLst>
                </p:cNvPr>
                <p:cNvSpPr/>
                <p:nvPr/>
              </p:nvSpPr>
              <p:spPr>
                <a:xfrm>
                  <a:off x="-482765" y="6440599"/>
                  <a:ext cx="11438966" cy="394446"/>
                </a:xfrm>
                <a:custGeom>
                  <a:avLst/>
                  <a:gdLst>
                    <a:gd name="connsiteX0" fmla="*/ 1605439 w 1657350"/>
                    <a:gd name="connsiteY0" fmla="*/ 54769 h 57150"/>
                    <a:gd name="connsiteX1" fmla="*/ 1652111 w 1657350"/>
                    <a:gd name="connsiteY1" fmla="*/ 22384 h 57150"/>
                    <a:gd name="connsiteX2" fmla="*/ 1652111 w 1657350"/>
                    <a:gd name="connsiteY2" fmla="*/ 22384 h 57150"/>
                    <a:gd name="connsiteX3" fmla="*/ 1636871 w 1657350"/>
                    <a:gd name="connsiteY3" fmla="*/ 7144 h 57150"/>
                    <a:gd name="connsiteX4" fmla="*/ 44291 w 1657350"/>
                    <a:gd name="connsiteY4" fmla="*/ 12859 h 57150"/>
                    <a:gd name="connsiteX5" fmla="*/ 23336 w 1657350"/>
                    <a:gd name="connsiteY5" fmla="*/ 12859 h 57150"/>
                    <a:gd name="connsiteX6" fmla="*/ 7144 w 1657350"/>
                    <a:gd name="connsiteY6" fmla="*/ 26194 h 57150"/>
                    <a:gd name="connsiteX7" fmla="*/ 7144 w 1657350"/>
                    <a:gd name="connsiteY7" fmla="*/ 26194 h 57150"/>
                    <a:gd name="connsiteX8" fmla="*/ 50959 w 1657350"/>
                    <a:gd name="connsiteY8" fmla="*/ 53816 h 57150"/>
                    <a:gd name="connsiteX9" fmla="*/ 51911 w 1657350"/>
                    <a:gd name="connsiteY9" fmla="*/ 54769 h 57150"/>
                    <a:gd name="connsiteX10" fmla="*/ 51911 w 1657350"/>
                    <a:gd name="connsiteY10" fmla="*/ 54769 h 57150"/>
                    <a:gd name="connsiteX11" fmla="*/ 56674 w 1657350"/>
                    <a:gd name="connsiteY11" fmla="*/ 5476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57350" h="57150">
                      <a:moveTo>
                        <a:pt x="1605439" y="54769"/>
                      </a:moveTo>
                      <a:cubicBezTo>
                        <a:pt x="1605439" y="54769"/>
                        <a:pt x="1638776" y="50959"/>
                        <a:pt x="1652111" y="22384"/>
                      </a:cubicBezTo>
                      <a:lnTo>
                        <a:pt x="1652111" y="22384"/>
                      </a:lnTo>
                      <a:cubicBezTo>
                        <a:pt x="1652111" y="13811"/>
                        <a:pt x="1645444" y="7144"/>
                        <a:pt x="1636871" y="7144"/>
                      </a:cubicBezTo>
                      <a:lnTo>
                        <a:pt x="44291" y="12859"/>
                      </a:lnTo>
                      <a:lnTo>
                        <a:pt x="23336" y="12859"/>
                      </a:lnTo>
                      <a:cubicBezTo>
                        <a:pt x="14764" y="12859"/>
                        <a:pt x="7144" y="18574"/>
                        <a:pt x="7144" y="26194"/>
                      </a:cubicBezTo>
                      <a:lnTo>
                        <a:pt x="7144" y="26194"/>
                      </a:lnTo>
                      <a:cubicBezTo>
                        <a:pt x="17621" y="45244"/>
                        <a:pt x="40481" y="51911"/>
                        <a:pt x="50959" y="53816"/>
                      </a:cubicBezTo>
                      <a:lnTo>
                        <a:pt x="51911" y="54769"/>
                      </a:lnTo>
                      <a:cubicBezTo>
                        <a:pt x="51911" y="54769"/>
                        <a:pt x="51911" y="54769"/>
                        <a:pt x="51911" y="54769"/>
                      </a:cubicBezTo>
                      <a:lnTo>
                        <a:pt x="56674" y="54769"/>
                      </a:lnTo>
                    </a:path>
                  </a:pathLst>
                </a:custGeom>
                <a:solidFill>
                  <a:srgbClr val="5F676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Freeform: Shape 24">
                  <a:extLst>
                    <a:ext uri="{FF2B5EF4-FFF2-40B4-BE49-F238E27FC236}">
                      <a16:creationId xmlns:a16="http://schemas.microsoft.com/office/drawing/2014/main" id="{BAF69974-50F2-4DAC-A5B6-B50E0A56EB6E}"/>
                    </a:ext>
                  </a:extLst>
                </p:cNvPr>
                <p:cNvSpPr/>
                <p:nvPr/>
              </p:nvSpPr>
              <p:spPr>
                <a:xfrm>
                  <a:off x="700575" y="477868"/>
                  <a:ext cx="9072285" cy="5916709"/>
                </a:xfrm>
                <a:custGeom>
                  <a:avLst/>
                  <a:gdLst>
                    <a:gd name="connsiteX0" fmla="*/ 1311116 w 1314450"/>
                    <a:gd name="connsiteY0" fmla="*/ 813911 h 857250"/>
                    <a:gd name="connsiteX1" fmla="*/ 1281589 w 1314450"/>
                    <a:gd name="connsiteY1" fmla="*/ 852964 h 857250"/>
                    <a:gd name="connsiteX2" fmla="*/ 36671 w 1314450"/>
                    <a:gd name="connsiteY2" fmla="*/ 852964 h 857250"/>
                    <a:gd name="connsiteX3" fmla="*/ 7144 w 1314450"/>
                    <a:gd name="connsiteY3" fmla="*/ 813911 h 857250"/>
                    <a:gd name="connsiteX4" fmla="*/ 7144 w 1314450"/>
                    <a:gd name="connsiteY4" fmla="*/ 46196 h 857250"/>
                    <a:gd name="connsiteX5" fmla="*/ 36671 w 1314450"/>
                    <a:gd name="connsiteY5" fmla="*/ 7144 h 857250"/>
                    <a:gd name="connsiteX6" fmla="*/ 1281589 w 1314450"/>
                    <a:gd name="connsiteY6" fmla="*/ 7144 h 857250"/>
                    <a:gd name="connsiteX7" fmla="*/ 1311116 w 1314450"/>
                    <a:gd name="connsiteY7" fmla="*/ 46196 h 857250"/>
                    <a:gd name="connsiteX8" fmla="*/ 1311116 w 1314450"/>
                    <a:gd name="connsiteY8" fmla="*/ 813911 h 857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14450" h="857250">
                      <a:moveTo>
                        <a:pt x="1311116" y="813911"/>
                      </a:moveTo>
                      <a:cubicBezTo>
                        <a:pt x="1311116" y="834866"/>
                        <a:pt x="1297781" y="852964"/>
                        <a:pt x="1281589" y="852964"/>
                      </a:cubicBezTo>
                      <a:lnTo>
                        <a:pt x="36671" y="852964"/>
                      </a:lnTo>
                      <a:cubicBezTo>
                        <a:pt x="20479" y="852964"/>
                        <a:pt x="7144" y="835819"/>
                        <a:pt x="7144" y="813911"/>
                      </a:cubicBezTo>
                      <a:lnTo>
                        <a:pt x="7144" y="46196"/>
                      </a:lnTo>
                      <a:cubicBezTo>
                        <a:pt x="7144" y="25241"/>
                        <a:pt x="20479" y="7144"/>
                        <a:pt x="36671" y="7144"/>
                      </a:cubicBezTo>
                      <a:lnTo>
                        <a:pt x="1281589" y="7144"/>
                      </a:lnTo>
                      <a:cubicBezTo>
                        <a:pt x="1297781" y="7144"/>
                        <a:pt x="1311116" y="24289"/>
                        <a:pt x="1311116" y="46196"/>
                      </a:cubicBezTo>
                      <a:lnTo>
                        <a:pt x="1311116" y="8139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Freeform: Shape 25">
                  <a:extLst>
                    <a:ext uri="{FF2B5EF4-FFF2-40B4-BE49-F238E27FC236}">
                      <a16:creationId xmlns:a16="http://schemas.microsoft.com/office/drawing/2014/main" id="{F17FABDF-C24D-49C0-AF37-DB30E59FA797}"/>
                    </a:ext>
                  </a:extLst>
                </p:cNvPr>
                <p:cNvSpPr/>
                <p:nvPr/>
              </p:nvSpPr>
              <p:spPr>
                <a:xfrm>
                  <a:off x="1088451" y="839448"/>
                  <a:ext cx="8283390" cy="5062073"/>
                </a:xfrm>
                <a:custGeom>
                  <a:avLst/>
                  <a:gdLst>
                    <a:gd name="connsiteX0" fmla="*/ 7144 w 1200150"/>
                    <a:gd name="connsiteY0" fmla="*/ 7144 h 733425"/>
                    <a:gd name="connsiteX1" fmla="*/ 1196816 w 1200150"/>
                    <a:gd name="connsiteY1" fmla="*/ 7144 h 733425"/>
                    <a:gd name="connsiteX2" fmla="*/ 1196816 w 1200150"/>
                    <a:gd name="connsiteY2" fmla="*/ 730091 h 733425"/>
                    <a:gd name="connsiteX3" fmla="*/ 7144 w 1200150"/>
                    <a:gd name="connsiteY3" fmla="*/ 730091 h 733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0150" h="733425">
                      <a:moveTo>
                        <a:pt x="7144" y="7144"/>
                      </a:moveTo>
                      <a:lnTo>
                        <a:pt x="1196816" y="7144"/>
                      </a:lnTo>
                      <a:lnTo>
                        <a:pt x="1196816" y="730091"/>
                      </a:lnTo>
                      <a:lnTo>
                        <a:pt x="7144" y="73009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2" name="Freeform: Shape 26">
                  <a:extLst>
                    <a:ext uri="{FF2B5EF4-FFF2-40B4-BE49-F238E27FC236}">
                      <a16:creationId xmlns:a16="http://schemas.microsoft.com/office/drawing/2014/main" id="{DA20BA7B-E89F-4D4C-AD0F-D2B4DB5D798D}"/>
                    </a:ext>
                  </a:extLst>
                </p:cNvPr>
                <p:cNvSpPr/>
                <p:nvPr/>
              </p:nvSpPr>
              <p:spPr>
                <a:xfrm>
                  <a:off x="-548507" y="6164484"/>
                  <a:ext cx="11570449" cy="460187"/>
                </a:xfrm>
                <a:custGeom>
                  <a:avLst/>
                  <a:gdLst>
                    <a:gd name="connsiteX0" fmla="*/ 50006 w 1676400"/>
                    <a:gd name="connsiteY0" fmla="*/ 7144 h 66675"/>
                    <a:gd name="connsiteX1" fmla="*/ 1630204 w 1676400"/>
                    <a:gd name="connsiteY1" fmla="*/ 7144 h 66675"/>
                    <a:gd name="connsiteX2" fmla="*/ 1672114 w 1676400"/>
                    <a:gd name="connsiteY2" fmla="*/ 49054 h 66675"/>
                    <a:gd name="connsiteX3" fmla="*/ 1672114 w 1676400"/>
                    <a:gd name="connsiteY3" fmla="*/ 57626 h 66675"/>
                    <a:gd name="connsiteX4" fmla="*/ 1656874 w 1676400"/>
                    <a:gd name="connsiteY4" fmla="*/ 62389 h 66675"/>
                    <a:gd name="connsiteX5" fmla="*/ 1654016 w 1676400"/>
                    <a:gd name="connsiteY5" fmla="*/ 62389 h 66675"/>
                    <a:gd name="connsiteX6" fmla="*/ 29051 w 1676400"/>
                    <a:gd name="connsiteY6" fmla="*/ 62389 h 66675"/>
                    <a:gd name="connsiteX7" fmla="*/ 21431 w 1676400"/>
                    <a:gd name="connsiteY7" fmla="*/ 63341 h 66675"/>
                    <a:gd name="connsiteX8" fmla="*/ 7144 w 1676400"/>
                    <a:gd name="connsiteY8" fmla="*/ 55721 h 66675"/>
                    <a:gd name="connsiteX9" fmla="*/ 7144 w 1676400"/>
                    <a:gd name="connsiteY9" fmla="*/ 48101 h 66675"/>
                    <a:gd name="connsiteX10" fmla="*/ 50006 w 1676400"/>
                    <a:gd name="connsiteY10" fmla="*/ 714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76400" h="66675">
                      <a:moveTo>
                        <a:pt x="50006" y="7144"/>
                      </a:moveTo>
                      <a:lnTo>
                        <a:pt x="1630204" y="7144"/>
                      </a:lnTo>
                      <a:cubicBezTo>
                        <a:pt x="1653064" y="7144"/>
                        <a:pt x="1672114" y="26194"/>
                        <a:pt x="1672114" y="49054"/>
                      </a:cubicBezTo>
                      <a:lnTo>
                        <a:pt x="1672114" y="57626"/>
                      </a:lnTo>
                      <a:cubicBezTo>
                        <a:pt x="1672114" y="57626"/>
                        <a:pt x="1674019" y="64294"/>
                        <a:pt x="1656874" y="62389"/>
                      </a:cubicBezTo>
                      <a:cubicBezTo>
                        <a:pt x="1655921" y="62389"/>
                        <a:pt x="1654969" y="62389"/>
                        <a:pt x="1654016" y="62389"/>
                      </a:cubicBezTo>
                      <a:lnTo>
                        <a:pt x="29051" y="62389"/>
                      </a:lnTo>
                      <a:cubicBezTo>
                        <a:pt x="26194" y="62389"/>
                        <a:pt x="24289" y="62389"/>
                        <a:pt x="21431" y="63341"/>
                      </a:cubicBezTo>
                      <a:cubicBezTo>
                        <a:pt x="16669" y="64294"/>
                        <a:pt x="8096" y="64294"/>
                        <a:pt x="7144" y="55721"/>
                      </a:cubicBezTo>
                      <a:lnTo>
                        <a:pt x="7144" y="48101"/>
                      </a:lnTo>
                      <a:cubicBezTo>
                        <a:pt x="8096" y="25241"/>
                        <a:pt x="26194" y="7144"/>
                        <a:pt x="50006" y="7144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3" name="Freeform: Shape 27">
                  <a:extLst>
                    <a:ext uri="{FF2B5EF4-FFF2-40B4-BE49-F238E27FC236}">
                      <a16:creationId xmlns:a16="http://schemas.microsoft.com/office/drawing/2014/main" id="{05FC359D-90A9-482C-9CA3-9CA252BE773E}"/>
                    </a:ext>
                  </a:extLst>
                </p:cNvPr>
                <p:cNvSpPr/>
                <p:nvPr/>
              </p:nvSpPr>
              <p:spPr>
                <a:xfrm>
                  <a:off x="4438629" y="6215033"/>
                  <a:ext cx="1618413" cy="184076"/>
                </a:xfrm>
                <a:custGeom>
                  <a:avLst/>
                  <a:gdLst>
                    <a:gd name="connsiteX0" fmla="*/ 1478513 w 1618413"/>
                    <a:gd name="connsiteY0" fmla="*/ 177499 h 184076"/>
                    <a:gd name="connsiteX1" fmla="*/ 1485084 w 1618413"/>
                    <a:gd name="connsiteY1" fmla="*/ 177499 h 184076"/>
                    <a:gd name="connsiteX2" fmla="*/ 1502686 w 1618413"/>
                    <a:gd name="connsiteY2" fmla="*/ 178122 h 184076"/>
                    <a:gd name="connsiteX3" fmla="*/ 1499879 w 1618413"/>
                    <a:gd name="connsiteY3" fmla="*/ 178526 h 184076"/>
                    <a:gd name="connsiteX4" fmla="*/ 1478513 w 1618413"/>
                    <a:gd name="connsiteY4" fmla="*/ 177499 h 184076"/>
                    <a:gd name="connsiteX5" fmla="*/ 84799 w 1618413"/>
                    <a:gd name="connsiteY5" fmla="*/ 170928 h 184076"/>
                    <a:gd name="connsiteX6" fmla="*/ 117666 w 1618413"/>
                    <a:gd name="connsiteY6" fmla="*/ 177499 h 184076"/>
                    <a:gd name="connsiteX7" fmla="*/ 104518 w 1618413"/>
                    <a:gd name="connsiteY7" fmla="*/ 177499 h 184076"/>
                    <a:gd name="connsiteX8" fmla="*/ 84799 w 1618413"/>
                    <a:gd name="connsiteY8" fmla="*/ 170928 h 184076"/>
                    <a:gd name="connsiteX9" fmla="*/ 1603418 w 1618413"/>
                    <a:gd name="connsiteY9" fmla="*/ 0 h 184076"/>
                    <a:gd name="connsiteX10" fmla="*/ 1616567 w 1618413"/>
                    <a:gd name="connsiteY10" fmla="*/ 0 h 184076"/>
                    <a:gd name="connsiteX11" fmla="*/ 1511177 w 1618413"/>
                    <a:gd name="connsiteY11" fmla="*/ 178423 h 184076"/>
                    <a:gd name="connsiteX12" fmla="*/ 1502686 w 1618413"/>
                    <a:gd name="connsiteY12" fmla="*/ 178122 h 184076"/>
                    <a:gd name="connsiteX13" fmla="*/ 1521501 w 1618413"/>
                    <a:gd name="connsiteY13" fmla="*/ 175419 h 184076"/>
                    <a:gd name="connsiteX14" fmla="*/ 1603418 w 1618413"/>
                    <a:gd name="connsiteY14" fmla="*/ 6571 h 184076"/>
                    <a:gd name="connsiteX15" fmla="*/ 5911 w 1618413"/>
                    <a:gd name="connsiteY15" fmla="*/ 0 h 184076"/>
                    <a:gd name="connsiteX16" fmla="*/ 19060 w 1618413"/>
                    <a:gd name="connsiteY16" fmla="*/ 6571 h 184076"/>
                    <a:gd name="connsiteX17" fmla="*/ 91379 w 1618413"/>
                    <a:gd name="connsiteY17" fmla="*/ 184076 h 184076"/>
                    <a:gd name="connsiteX18" fmla="*/ 5911 w 1618413"/>
                    <a:gd name="connsiteY18" fmla="*/ 0 h 184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618413" h="184076">
                      <a:moveTo>
                        <a:pt x="1478513" y="177499"/>
                      </a:moveTo>
                      <a:lnTo>
                        <a:pt x="1485084" y="177499"/>
                      </a:lnTo>
                      <a:lnTo>
                        <a:pt x="1502686" y="178122"/>
                      </a:lnTo>
                      <a:lnTo>
                        <a:pt x="1499879" y="178526"/>
                      </a:lnTo>
                      <a:cubicBezTo>
                        <a:pt x="1487142" y="179142"/>
                        <a:pt x="1478513" y="177499"/>
                        <a:pt x="1478513" y="177499"/>
                      </a:cubicBezTo>
                      <a:close/>
                      <a:moveTo>
                        <a:pt x="84799" y="170928"/>
                      </a:moveTo>
                      <a:cubicBezTo>
                        <a:pt x="97947" y="177499"/>
                        <a:pt x="104518" y="177499"/>
                        <a:pt x="117666" y="177499"/>
                      </a:cubicBezTo>
                      <a:lnTo>
                        <a:pt x="104518" y="177499"/>
                      </a:lnTo>
                      <a:cubicBezTo>
                        <a:pt x="97947" y="177499"/>
                        <a:pt x="91370" y="177499"/>
                        <a:pt x="84799" y="170928"/>
                      </a:cubicBezTo>
                      <a:close/>
                      <a:moveTo>
                        <a:pt x="1603418" y="0"/>
                      </a:moveTo>
                      <a:lnTo>
                        <a:pt x="1616567" y="0"/>
                      </a:lnTo>
                      <a:cubicBezTo>
                        <a:pt x="1631361" y="152847"/>
                        <a:pt x="1553705" y="176266"/>
                        <a:pt x="1511177" y="178423"/>
                      </a:cubicBezTo>
                      <a:lnTo>
                        <a:pt x="1502686" y="178122"/>
                      </a:lnTo>
                      <a:lnTo>
                        <a:pt x="1521501" y="175419"/>
                      </a:lnTo>
                      <a:cubicBezTo>
                        <a:pt x="1560791" y="165788"/>
                        <a:pt x="1611636" y="129836"/>
                        <a:pt x="1603418" y="6571"/>
                      </a:cubicBezTo>
                      <a:close/>
                      <a:moveTo>
                        <a:pt x="5911" y="0"/>
                      </a:moveTo>
                      <a:lnTo>
                        <a:pt x="19060" y="6571"/>
                      </a:lnTo>
                      <a:cubicBezTo>
                        <a:pt x="19060" y="6571"/>
                        <a:pt x="-20385" y="144631"/>
                        <a:pt x="91379" y="184076"/>
                      </a:cubicBezTo>
                      <a:cubicBezTo>
                        <a:pt x="-33534" y="151202"/>
                        <a:pt x="5911" y="0"/>
                        <a:pt x="5911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grpSp>
              <p:nvGrpSpPr>
                <p:cNvPr id="24" name="Group 28">
                  <a:extLst>
                    <a:ext uri="{FF2B5EF4-FFF2-40B4-BE49-F238E27FC236}">
                      <a16:creationId xmlns:a16="http://schemas.microsoft.com/office/drawing/2014/main" id="{221A908A-5604-4CC2-AE54-88CB214A6B7C}"/>
                    </a:ext>
                  </a:extLst>
                </p:cNvPr>
                <p:cNvGrpSpPr/>
                <p:nvPr/>
              </p:nvGrpSpPr>
              <p:grpSpPr>
                <a:xfrm>
                  <a:off x="1606" y="6382978"/>
                  <a:ext cx="413937" cy="115242"/>
                  <a:chOff x="5955" y="6353672"/>
                  <a:chExt cx="413937" cy="115242"/>
                </a:xfrm>
              </p:grpSpPr>
              <p:sp>
                <p:nvSpPr>
                  <p:cNvPr id="29" name="Rectangle: Rounded Corners 33">
                    <a:extLst>
                      <a:ext uri="{FF2B5EF4-FFF2-40B4-BE49-F238E27FC236}">
                        <a16:creationId xmlns:a16="http://schemas.microsoft.com/office/drawing/2014/main" id="{3E34D388-31FA-48B2-9A79-9026438DA940}"/>
                      </a:ext>
                    </a:extLst>
                  </p:cNvPr>
                  <p:cNvSpPr/>
                  <p:nvPr/>
                </p:nvSpPr>
                <p:spPr>
                  <a:xfrm>
                    <a:off x="5955" y="6353672"/>
                    <a:ext cx="413937" cy="11524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" lastClr="FFFFFF">
                      <a:lumMod val="7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  <p:sp>
                <p:nvSpPr>
                  <p:cNvPr id="30" name="Rectangle: Rounded Corners 34">
                    <a:extLst>
                      <a:ext uri="{FF2B5EF4-FFF2-40B4-BE49-F238E27FC236}">
                        <a16:creationId xmlns:a16="http://schemas.microsoft.com/office/drawing/2014/main" id="{A63EC858-83D3-4916-9F39-2D2CCF5AB2A6}"/>
                      </a:ext>
                    </a:extLst>
                  </p:cNvPr>
                  <p:cNvSpPr/>
                  <p:nvPr/>
                </p:nvSpPr>
                <p:spPr>
                  <a:xfrm>
                    <a:off x="99417" y="6382279"/>
                    <a:ext cx="227012" cy="5527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Text" lastClr="000000">
                      <a:lumMod val="65000"/>
                      <a:lumOff val="3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</p:grpSp>
            <p:grpSp>
              <p:nvGrpSpPr>
                <p:cNvPr id="25" name="Group 29">
                  <a:extLst>
                    <a:ext uri="{FF2B5EF4-FFF2-40B4-BE49-F238E27FC236}">
                      <a16:creationId xmlns:a16="http://schemas.microsoft.com/office/drawing/2014/main" id="{BBA5312C-D333-4BC0-AB97-E24E57ED4028}"/>
                    </a:ext>
                  </a:extLst>
                </p:cNvPr>
                <p:cNvGrpSpPr/>
                <p:nvPr/>
              </p:nvGrpSpPr>
              <p:grpSpPr>
                <a:xfrm>
                  <a:off x="9855291" y="6381600"/>
                  <a:ext cx="885989" cy="115242"/>
                  <a:chOff x="5955" y="6353672"/>
                  <a:chExt cx="413937" cy="115242"/>
                </a:xfrm>
              </p:grpSpPr>
              <p:sp>
                <p:nvSpPr>
                  <p:cNvPr id="27" name="Rectangle: Rounded Corners 31">
                    <a:extLst>
                      <a:ext uri="{FF2B5EF4-FFF2-40B4-BE49-F238E27FC236}">
                        <a16:creationId xmlns:a16="http://schemas.microsoft.com/office/drawing/2014/main" id="{7572308F-23D1-4E27-9341-B046CBD78EDC}"/>
                      </a:ext>
                    </a:extLst>
                  </p:cNvPr>
                  <p:cNvSpPr/>
                  <p:nvPr/>
                </p:nvSpPr>
                <p:spPr>
                  <a:xfrm>
                    <a:off x="5955" y="6353672"/>
                    <a:ext cx="413937" cy="11524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" lastClr="FFFFFF">
                      <a:lumMod val="7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  <p:sp>
                <p:nvSpPr>
                  <p:cNvPr id="28" name="Rectangle: Rounded Corners 32">
                    <a:extLst>
                      <a:ext uri="{FF2B5EF4-FFF2-40B4-BE49-F238E27FC236}">
                        <a16:creationId xmlns:a16="http://schemas.microsoft.com/office/drawing/2014/main" id="{39499F02-2ACE-4598-B439-660BDC0C48BE}"/>
                      </a:ext>
                    </a:extLst>
                  </p:cNvPr>
                  <p:cNvSpPr/>
                  <p:nvPr/>
                </p:nvSpPr>
                <p:spPr>
                  <a:xfrm>
                    <a:off x="84761" y="6382279"/>
                    <a:ext cx="256326" cy="5527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Text" lastClr="000000">
                      <a:lumMod val="65000"/>
                      <a:lumOff val="3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</p:grpSp>
            <p:sp>
              <p:nvSpPr>
                <p:cNvPr id="26" name="Freeform: Shape 30">
                  <a:extLst>
                    <a:ext uri="{FF2B5EF4-FFF2-40B4-BE49-F238E27FC236}">
                      <a16:creationId xmlns:a16="http://schemas.microsoft.com/office/drawing/2014/main" id="{F27C83E3-3E04-489C-BD06-17C1994CC711}"/>
                    </a:ext>
                  </a:extLst>
                </p:cNvPr>
                <p:cNvSpPr/>
                <p:nvPr/>
              </p:nvSpPr>
              <p:spPr>
                <a:xfrm>
                  <a:off x="3892805" y="496953"/>
                  <a:ext cx="5479036" cy="5431217"/>
                </a:xfrm>
                <a:custGeom>
                  <a:avLst/>
                  <a:gdLst>
                    <a:gd name="connsiteX0" fmla="*/ 2567127 w 4009217"/>
                    <a:gd name="connsiteY0" fmla="*/ 30683 h 4295590"/>
                    <a:gd name="connsiteX1" fmla="*/ 3798529 w 4009217"/>
                    <a:gd name="connsiteY1" fmla="*/ 30683 h 4295590"/>
                    <a:gd name="connsiteX2" fmla="*/ 4007172 w 4009217"/>
                    <a:gd name="connsiteY2" fmla="*/ 272054 h 4295590"/>
                    <a:gd name="connsiteX3" fmla="*/ 3998990 w 4009217"/>
                    <a:gd name="connsiteY3" fmla="*/ 4268999 h 4295590"/>
                    <a:gd name="connsiteX4" fmla="*/ 30683 w 4009217"/>
                    <a:gd name="connsiteY4" fmla="*/ 4268999 h 4295590"/>
                    <a:gd name="connsiteX0" fmla="*/ 2536444 w 3976489"/>
                    <a:gd name="connsiteY0" fmla="*/ 0 h 4238316"/>
                    <a:gd name="connsiteX1" fmla="*/ 3976489 w 3976489"/>
                    <a:gd name="connsiteY1" fmla="*/ 241371 h 4238316"/>
                    <a:gd name="connsiteX2" fmla="*/ 3968307 w 3976489"/>
                    <a:gd name="connsiteY2" fmla="*/ 4238316 h 4238316"/>
                    <a:gd name="connsiteX3" fmla="*/ 0 w 3976489"/>
                    <a:gd name="connsiteY3" fmla="*/ 4238316 h 4238316"/>
                    <a:gd name="connsiteX0" fmla="*/ 2536444 w 3976489"/>
                    <a:gd name="connsiteY0" fmla="*/ 0 h 4238316"/>
                    <a:gd name="connsiteX1" fmla="*/ 3976489 w 3976489"/>
                    <a:gd name="connsiteY1" fmla="*/ 213683 h 4238316"/>
                    <a:gd name="connsiteX2" fmla="*/ 3968307 w 3976489"/>
                    <a:gd name="connsiteY2" fmla="*/ 4238316 h 4238316"/>
                    <a:gd name="connsiteX3" fmla="*/ 0 w 3976489"/>
                    <a:gd name="connsiteY3" fmla="*/ 4238316 h 4238316"/>
                    <a:gd name="connsiteX0" fmla="*/ 2473335 w 3976489"/>
                    <a:gd name="connsiteY0" fmla="*/ 0 h 4035268"/>
                    <a:gd name="connsiteX1" fmla="*/ 3976489 w 3976489"/>
                    <a:gd name="connsiteY1" fmla="*/ 10635 h 4035268"/>
                    <a:gd name="connsiteX2" fmla="*/ 3968307 w 3976489"/>
                    <a:gd name="connsiteY2" fmla="*/ 4035268 h 4035268"/>
                    <a:gd name="connsiteX3" fmla="*/ 0 w 3976489"/>
                    <a:gd name="connsiteY3" fmla="*/ 4035268 h 403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76489" h="4035268">
                      <a:moveTo>
                        <a:pt x="2473335" y="0"/>
                      </a:moveTo>
                      <a:lnTo>
                        <a:pt x="3976489" y="10635"/>
                      </a:lnTo>
                      <a:cubicBezTo>
                        <a:pt x="3973762" y="1342950"/>
                        <a:pt x="3971034" y="2702953"/>
                        <a:pt x="3968307" y="4035268"/>
                      </a:cubicBezTo>
                      <a:lnTo>
                        <a:pt x="0" y="4035268"/>
                      </a:lnTo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8" name="圖片 17"/>
              <p:cNvPicPr>
                <a:picLocks noChangeAspect="1"/>
              </p:cNvPicPr>
              <p:nvPr/>
            </p:nvPicPr>
            <p:blipFill rotWithShape="1">
              <a:blip r:embed="rId5"/>
              <a:srcRect b="16853"/>
              <a:stretch/>
            </p:blipFill>
            <p:spPr>
              <a:xfrm>
                <a:off x="-743728" y="4048758"/>
                <a:ext cx="1249670" cy="800241"/>
              </a:xfrm>
              <a:prstGeom prst="rect">
                <a:avLst/>
              </a:prstGeom>
            </p:spPr>
          </p:pic>
        </p:grpSp>
        <p:grpSp>
          <p:nvGrpSpPr>
            <p:cNvPr id="14" name="群組 13"/>
            <p:cNvGrpSpPr>
              <a:grpSpLocks noChangeAspect="1"/>
            </p:cNvGrpSpPr>
            <p:nvPr/>
          </p:nvGrpSpPr>
          <p:grpSpPr>
            <a:xfrm>
              <a:off x="1316001" y="2568581"/>
              <a:ext cx="274261" cy="481139"/>
              <a:chOff x="675864" y="3854165"/>
              <a:chExt cx="743064" cy="1448346"/>
            </a:xfrm>
          </p:grpSpPr>
          <p:pic>
            <p:nvPicPr>
              <p:cNvPr id="15" name="圖片 14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675864" y="3854165"/>
                <a:ext cx="743064" cy="1448346"/>
              </a:xfrm>
              <a:prstGeom prst="rect">
                <a:avLst/>
              </a:prstGeom>
            </p:spPr>
          </p:pic>
          <p:pic>
            <p:nvPicPr>
              <p:cNvPr id="16" name="圖片 15"/>
              <p:cNvPicPr>
                <a:picLocks noChangeAspect="1"/>
              </p:cNvPicPr>
              <p:nvPr/>
            </p:nvPicPr>
            <p:blipFill rotWithShape="1">
              <a:blip r:embed="rId5"/>
              <a:srcRect l="27532" t="-1087" r="31684" b="4522"/>
              <a:stretch/>
            </p:blipFill>
            <p:spPr>
              <a:xfrm>
                <a:off x="799323" y="4076786"/>
                <a:ext cx="509665" cy="929390"/>
              </a:xfrm>
              <a:prstGeom prst="rect">
                <a:avLst/>
              </a:prstGeom>
            </p:spPr>
          </p:pic>
        </p:grpSp>
      </p:grpSp>
      <p:grpSp>
        <p:nvGrpSpPr>
          <p:cNvPr id="31" name="群組 30"/>
          <p:cNvGrpSpPr/>
          <p:nvPr/>
        </p:nvGrpSpPr>
        <p:grpSpPr>
          <a:xfrm>
            <a:off x="4204126" y="2517670"/>
            <a:ext cx="1399874" cy="726610"/>
            <a:chOff x="2545547" y="1057197"/>
            <a:chExt cx="1399874" cy="726610"/>
          </a:xfrm>
        </p:grpSpPr>
        <p:grpSp>
          <p:nvGrpSpPr>
            <p:cNvPr id="32" name="群組 31"/>
            <p:cNvGrpSpPr/>
            <p:nvPr/>
          </p:nvGrpSpPr>
          <p:grpSpPr>
            <a:xfrm>
              <a:off x="2545547" y="1057197"/>
              <a:ext cx="1399874" cy="726610"/>
              <a:chOff x="3768066" y="2402040"/>
              <a:chExt cx="1671459" cy="806635"/>
            </a:xfrm>
          </p:grpSpPr>
          <p:pic>
            <p:nvPicPr>
              <p:cNvPr id="34" name="圖片 3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35" name="文字方塊 34"/>
              <p:cNvSpPr txBox="1"/>
              <p:nvPr/>
            </p:nvSpPr>
            <p:spPr>
              <a:xfrm>
                <a:off x="4382112" y="2595085"/>
                <a:ext cx="1057413" cy="568178"/>
              </a:xfrm>
              <a:prstGeom prst="rect">
                <a:avLst/>
              </a:prstGeom>
              <a:solidFill>
                <a:srgbClr val="31528D"/>
              </a:solidFill>
              <a:ln>
                <a:solidFill>
                  <a:sysClr val="windowText" lastClr="000000">
                    <a:lumMod val="75000"/>
                    <a:lumOff val="25000"/>
                  </a:sysClr>
                </a:solidFill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GIS</a:t>
                </a:r>
                <a:r>
                  <a:rPr kumimoji="0" lang="zh-TW" altLang="en-US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地圖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Web Server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33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408" y="1420502"/>
              <a:ext cx="304366" cy="322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群組 35"/>
          <p:cNvGrpSpPr/>
          <p:nvPr/>
        </p:nvGrpSpPr>
        <p:grpSpPr>
          <a:xfrm>
            <a:off x="4175941" y="3654164"/>
            <a:ext cx="1366618" cy="726610"/>
            <a:chOff x="2545545" y="1057197"/>
            <a:chExt cx="1366618" cy="726610"/>
          </a:xfrm>
        </p:grpSpPr>
        <p:grpSp>
          <p:nvGrpSpPr>
            <p:cNvPr id="37" name="群組 36"/>
            <p:cNvGrpSpPr/>
            <p:nvPr/>
          </p:nvGrpSpPr>
          <p:grpSpPr>
            <a:xfrm>
              <a:off x="2545545" y="1057197"/>
              <a:ext cx="1366618" cy="726610"/>
              <a:chOff x="3768066" y="2402040"/>
              <a:chExt cx="1631752" cy="806635"/>
            </a:xfrm>
          </p:grpSpPr>
          <p:pic>
            <p:nvPicPr>
              <p:cNvPr id="39" name="圖片 3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40" name="文字方塊 39"/>
              <p:cNvSpPr txBox="1"/>
              <p:nvPr/>
            </p:nvSpPr>
            <p:spPr>
              <a:xfrm>
                <a:off x="4342405" y="2572704"/>
                <a:ext cx="1057413" cy="56350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MAP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zh-TW" altLang="en-US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主機</a:t>
                </a:r>
                <a:endParaRPr kumimoji="0" lang="en-US" altLang="zh-TW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ArcGIS Server</a:t>
                </a:r>
                <a:endParaRPr kumimoji="0" lang="zh-TW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38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408" y="1420502"/>
              <a:ext cx="304366" cy="322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文字方塊 40"/>
          <p:cNvSpPr txBox="1"/>
          <p:nvPr/>
        </p:nvSpPr>
        <p:spPr>
          <a:xfrm>
            <a:off x="4008942" y="1154406"/>
            <a:ext cx="179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行內</a:t>
            </a:r>
            <a:r>
              <a:rPr lang="en-US" altLang="zh-TW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DMZ</a:t>
            </a: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區</a:t>
            </a:r>
            <a:endParaRPr lang="zh-TW" altLang="en-US" sz="14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987027" y="1154406"/>
            <a:ext cx="3761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行</a:t>
            </a:r>
            <a:r>
              <a:rPr lang="zh-TW" altLang="en-US" sz="14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內</a:t>
            </a:r>
            <a:r>
              <a:rPr lang="en-US" altLang="zh-TW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Intranet</a:t>
            </a: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區</a:t>
            </a:r>
            <a:endParaRPr lang="zh-TW" altLang="en-US" sz="14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7987587" y="2569183"/>
            <a:ext cx="1429076" cy="726610"/>
            <a:chOff x="3768066" y="2402040"/>
            <a:chExt cx="1706327" cy="806635"/>
          </a:xfrm>
        </p:grpSpPr>
        <p:sp>
          <p:nvSpPr>
            <p:cNvPr id="44" name="文字方塊 43"/>
            <p:cNvSpPr txBox="1"/>
            <p:nvPr/>
          </p:nvSpPr>
          <p:spPr>
            <a:xfrm>
              <a:off x="4416980" y="2524195"/>
              <a:ext cx="1057413" cy="576960"/>
            </a:xfrm>
            <a:prstGeom prst="rect">
              <a:avLst/>
            </a:prstGeom>
            <a:solidFill>
              <a:srgbClr val="31528D"/>
            </a:solidFill>
            <a:ln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zh-TW"/>
              </a:defPPr>
              <a:lvl1pPr algn="ctr">
                <a:defRPr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zh-TW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地</a:t>
              </a:r>
              <a:r>
                <a:rPr kumimoji="1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圖</a:t>
              </a:r>
              <a:r>
                <a:rPr kumimoji="1" lang="zh-TW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資料庫</a:t>
              </a:r>
              <a:endParaRPr kumimoji="1" lang="en-US" altLang="zh-TW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endParaRPr>
            </a:p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en-US" altLang="zh-TW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DB Server</a:t>
              </a:r>
              <a:endParaRPr kumimoji="1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pic>
          <p:nvPicPr>
            <p:cNvPr id="45" name="圖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8066" y="2402040"/>
              <a:ext cx="806635" cy="806635"/>
            </a:xfrm>
            <a:prstGeom prst="rect">
              <a:avLst/>
            </a:prstGeom>
          </p:spPr>
        </p:pic>
        <p:pic>
          <p:nvPicPr>
            <p:cNvPr id="46" name="圖片 4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051" y="2795797"/>
              <a:ext cx="376598" cy="376598"/>
            </a:xfrm>
            <a:prstGeom prst="rect">
              <a:avLst/>
            </a:prstGeom>
          </p:spPr>
        </p:pic>
      </p:grpSp>
      <p:grpSp>
        <p:nvGrpSpPr>
          <p:cNvPr id="47" name="群組 46"/>
          <p:cNvGrpSpPr/>
          <p:nvPr/>
        </p:nvGrpSpPr>
        <p:grpSpPr>
          <a:xfrm>
            <a:off x="7968047" y="3658072"/>
            <a:ext cx="1429076" cy="726610"/>
            <a:chOff x="3768066" y="2402040"/>
            <a:chExt cx="1706327" cy="806635"/>
          </a:xfrm>
        </p:grpSpPr>
        <p:sp>
          <p:nvSpPr>
            <p:cNvPr id="48" name="文字方塊 47"/>
            <p:cNvSpPr txBox="1"/>
            <p:nvPr/>
          </p:nvSpPr>
          <p:spPr>
            <a:xfrm>
              <a:off x="4416980" y="2576847"/>
              <a:ext cx="1057413" cy="56350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wrap="square" rtlCol="0" anchor="ctr">
              <a:noAutofit/>
            </a:bodyPr>
            <a:lstStyle>
              <a:defPPr>
                <a:defRPr lang="zh-TW"/>
              </a:defPPr>
              <a:lvl1pPr algn="ctr">
                <a:defRPr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en-US" altLang="zh-TW" sz="9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  <a:sym typeface="Arial"/>
                </a:rPr>
                <a:t>eMap</a:t>
              </a:r>
              <a:r>
                <a:rPr kumimoji="1" lang="zh-TW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  <a:sym typeface="Arial"/>
                </a:rPr>
                <a:t>資料庫</a:t>
              </a:r>
              <a:endParaRPr kumimoji="1" lang="en-US" altLang="zh-TW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Arial"/>
                <a:sym typeface="Arial"/>
              </a:endParaRPr>
            </a:p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en-US" altLang="zh-TW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  <a:sym typeface="Arial"/>
                </a:rPr>
                <a:t>DB Server</a:t>
              </a:r>
              <a:endParaRPr kumimoji="1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pic>
          <p:nvPicPr>
            <p:cNvPr id="49" name="圖片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8066" y="2402040"/>
              <a:ext cx="806635" cy="806635"/>
            </a:xfrm>
            <a:prstGeom prst="rect">
              <a:avLst/>
            </a:prstGeom>
          </p:spPr>
        </p:pic>
        <p:pic>
          <p:nvPicPr>
            <p:cNvPr id="50" name="圖片 4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051" y="2795797"/>
              <a:ext cx="376598" cy="376598"/>
            </a:xfrm>
            <a:prstGeom prst="rect">
              <a:avLst/>
            </a:prstGeom>
          </p:spPr>
        </p:pic>
      </p:grpSp>
      <p:grpSp>
        <p:nvGrpSpPr>
          <p:cNvPr id="51" name="群組 50"/>
          <p:cNvGrpSpPr/>
          <p:nvPr/>
        </p:nvGrpSpPr>
        <p:grpSpPr>
          <a:xfrm>
            <a:off x="6155870" y="3645552"/>
            <a:ext cx="1381568" cy="726610"/>
            <a:chOff x="2545545" y="1057196"/>
            <a:chExt cx="1381568" cy="726610"/>
          </a:xfrm>
        </p:grpSpPr>
        <p:grpSp>
          <p:nvGrpSpPr>
            <p:cNvPr id="52" name="群組 51"/>
            <p:cNvGrpSpPr/>
            <p:nvPr/>
          </p:nvGrpSpPr>
          <p:grpSpPr>
            <a:xfrm>
              <a:off x="2545545" y="1057196"/>
              <a:ext cx="1381568" cy="726610"/>
              <a:chOff x="3768066" y="2402040"/>
              <a:chExt cx="1649602" cy="806635"/>
            </a:xfrm>
          </p:grpSpPr>
          <p:pic>
            <p:nvPicPr>
              <p:cNvPr id="54" name="圖片 5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55" name="文字方塊 54"/>
              <p:cNvSpPr txBox="1"/>
              <p:nvPr/>
            </p:nvSpPr>
            <p:spPr>
              <a:xfrm>
                <a:off x="4355688" y="2640736"/>
                <a:ext cx="1061980" cy="495426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8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eMap</a:t>
                </a:r>
                <a:r>
                  <a:rPr kumimoji="0" lang="en-US" altLang="zh-TW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en-US" altLang="zh-TW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GIS</a:t>
                </a:r>
                <a:r>
                  <a:rPr kumimoji="0" lang="zh-TW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地圖</a:t>
                </a:r>
                <a:endParaRPr kumimoji="0" lang="en-US" altLang="zh-TW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門牌定位模組</a:t>
                </a:r>
                <a:endParaRPr kumimoji="0" lang="en-US" altLang="zh-TW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AP</a:t>
                </a:r>
                <a:r>
                  <a:rPr kumimoji="0" lang="en-US" altLang="zh-TW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+</a:t>
                </a:r>
                <a:r>
                  <a:rPr kumimoji="0" lang="zh-TW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en-US" altLang="zh-TW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Web Server</a:t>
                </a:r>
                <a:endParaRPr kumimoji="0" lang="zh-TW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53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4742" y="1483361"/>
              <a:ext cx="224183" cy="2375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群組 55"/>
          <p:cNvGrpSpPr/>
          <p:nvPr/>
        </p:nvGrpSpPr>
        <p:grpSpPr>
          <a:xfrm>
            <a:off x="6207736" y="1451419"/>
            <a:ext cx="1375073" cy="726610"/>
            <a:chOff x="4538152" y="1090803"/>
            <a:chExt cx="1375073" cy="726610"/>
          </a:xfrm>
        </p:grpSpPr>
        <p:grpSp>
          <p:nvGrpSpPr>
            <p:cNvPr id="57" name="群組 56"/>
            <p:cNvGrpSpPr/>
            <p:nvPr/>
          </p:nvGrpSpPr>
          <p:grpSpPr>
            <a:xfrm>
              <a:off x="4538152" y="1090803"/>
              <a:ext cx="1375073" cy="726610"/>
              <a:chOff x="3768066" y="2402040"/>
              <a:chExt cx="1641847" cy="806635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60" name="文字方塊 59"/>
              <p:cNvSpPr txBox="1"/>
              <p:nvPr/>
            </p:nvSpPr>
            <p:spPr>
              <a:xfrm>
                <a:off x="4352500" y="2637661"/>
                <a:ext cx="1057413" cy="410008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臺銀房貸網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AP Server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58" name="圖片 5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6156" y="1448510"/>
              <a:ext cx="279257" cy="283708"/>
            </a:xfrm>
            <a:prstGeom prst="rect">
              <a:avLst/>
            </a:prstGeom>
          </p:spPr>
        </p:pic>
      </p:grpSp>
      <p:grpSp>
        <p:nvGrpSpPr>
          <p:cNvPr id="61" name="群組 60"/>
          <p:cNvGrpSpPr/>
          <p:nvPr/>
        </p:nvGrpSpPr>
        <p:grpSpPr>
          <a:xfrm>
            <a:off x="6195768" y="2517669"/>
            <a:ext cx="1375736" cy="726610"/>
            <a:chOff x="4526184" y="2137415"/>
            <a:chExt cx="1375736" cy="726610"/>
          </a:xfrm>
        </p:grpSpPr>
        <p:grpSp>
          <p:nvGrpSpPr>
            <p:cNvPr id="62" name="群組 61"/>
            <p:cNvGrpSpPr/>
            <p:nvPr/>
          </p:nvGrpSpPr>
          <p:grpSpPr>
            <a:xfrm>
              <a:off x="4526184" y="2137415"/>
              <a:ext cx="1375736" cy="726610"/>
              <a:chOff x="3768066" y="2402040"/>
              <a:chExt cx="1642639" cy="806635"/>
            </a:xfrm>
          </p:grpSpPr>
          <p:pic>
            <p:nvPicPr>
              <p:cNvPr id="64" name="圖片 6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65" name="文字方塊 64"/>
              <p:cNvSpPr txBox="1"/>
              <p:nvPr/>
            </p:nvSpPr>
            <p:spPr>
              <a:xfrm>
                <a:off x="4353292" y="2594583"/>
                <a:ext cx="1057413" cy="563761"/>
              </a:xfrm>
              <a:prstGeom prst="rect">
                <a:avLst/>
              </a:prstGeom>
              <a:solidFill>
                <a:srgbClr val="31528D"/>
              </a:solidFill>
              <a:ln>
                <a:solidFill>
                  <a:sysClr val="windowText" lastClr="000000">
                    <a:lumMod val="75000"/>
                    <a:lumOff val="25000"/>
                  </a:sys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門牌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定位模組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鑑價模型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AP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Server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63" name="圖片 6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6308" y="2560824"/>
              <a:ext cx="279257" cy="283708"/>
            </a:xfrm>
            <a:prstGeom prst="rect">
              <a:avLst/>
            </a:prstGeom>
          </p:spPr>
        </p:pic>
      </p:grpSp>
      <p:pic>
        <p:nvPicPr>
          <p:cNvPr id="66" name="圖片 6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191" y="4072836"/>
            <a:ext cx="227391" cy="231015"/>
          </a:xfrm>
          <a:prstGeom prst="rect">
            <a:avLst/>
          </a:prstGeom>
        </p:spPr>
      </p:pic>
      <p:cxnSp>
        <p:nvCxnSpPr>
          <p:cNvPr id="67" name="Google Shape;118;p13"/>
          <p:cNvCxnSpPr/>
          <p:nvPr/>
        </p:nvCxnSpPr>
        <p:spPr>
          <a:xfrm>
            <a:off x="3760123" y="1358175"/>
            <a:ext cx="0" cy="304560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8" name="肘形接點 67"/>
          <p:cNvCxnSpPr>
            <a:stCxn id="10" idx="3"/>
            <a:endCxn id="59" idx="1"/>
          </p:cNvCxnSpPr>
          <p:nvPr/>
        </p:nvCxnSpPr>
        <p:spPr>
          <a:xfrm flipV="1">
            <a:off x="5590203" y="1814724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>
            <a:off x="4446671" y="2145015"/>
            <a:ext cx="0" cy="43200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70" name="直線單箭頭接點 69"/>
          <p:cNvCxnSpPr>
            <a:stCxn id="65" idx="3"/>
            <a:endCxn id="45" idx="1"/>
          </p:cNvCxnSpPr>
          <p:nvPr/>
        </p:nvCxnSpPr>
        <p:spPr>
          <a:xfrm flipV="1">
            <a:off x="7571504" y="2932488"/>
            <a:ext cx="432000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71" name="Google Shape;118;p13"/>
          <p:cNvCxnSpPr/>
          <p:nvPr/>
        </p:nvCxnSpPr>
        <p:spPr>
          <a:xfrm>
            <a:off x="5891937" y="1324885"/>
            <a:ext cx="0" cy="304560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72" name="肘形接點 71"/>
          <p:cNvCxnSpPr/>
          <p:nvPr/>
        </p:nvCxnSpPr>
        <p:spPr>
          <a:xfrm flipV="1">
            <a:off x="5590203" y="2880974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sp>
        <p:nvSpPr>
          <p:cNvPr id="73" name="Google Shape;120;p13"/>
          <p:cNvSpPr txBox="1"/>
          <p:nvPr/>
        </p:nvSpPr>
        <p:spPr>
          <a:xfrm>
            <a:off x="5792421" y="1975954"/>
            <a:ext cx="208094" cy="70326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ctr" anchorCtr="1">
            <a:noAutofit/>
          </a:bodyPr>
          <a:lstStyle/>
          <a:p>
            <a:pPr algn="ctr" defTabSz="914378">
              <a:buClr>
                <a:srgbClr val="3F3F3F"/>
              </a:buClr>
              <a:buSzPts val="1500"/>
              <a:buFont typeface="Arial"/>
              <a:buNone/>
            </a:pPr>
            <a:r>
              <a:rPr lang="zh-TW" altLang="en-US" sz="900" b="1" kern="0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內</a:t>
            </a:r>
            <a:r>
              <a:rPr lang="zh-TW" altLang="en-US" sz="900" b="1" kern="0" dirty="0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網</a:t>
            </a:r>
            <a:r>
              <a:rPr lang="zh-TW" altLang="en-US" sz="900" b="1" kern="0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防火牆</a:t>
            </a:r>
            <a:endParaRPr sz="700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74" name="直線單箭頭接點 73"/>
          <p:cNvCxnSpPr/>
          <p:nvPr/>
        </p:nvCxnSpPr>
        <p:spPr>
          <a:xfrm flipV="1">
            <a:off x="7551678" y="4071717"/>
            <a:ext cx="432000" cy="0"/>
          </a:xfrm>
          <a:prstGeom prst="straightConnector1">
            <a:avLst/>
          </a:prstGeom>
          <a:noFill/>
          <a:ln w="9525" cap="flat" cmpd="sng" algn="ctr">
            <a:solidFill>
              <a:srgbClr val="6997AF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75" name="肘形接點 74"/>
          <p:cNvCxnSpPr/>
          <p:nvPr/>
        </p:nvCxnSpPr>
        <p:spPr>
          <a:xfrm flipV="1">
            <a:off x="5551015" y="4061697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6997AF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76" name="Google Shape;120;p13"/>
          <p:cNvSpPr txBox="1"/>
          <p:nvPr/>
        </p:nvSpPr>
        <p:spPr>
          <a:xfrm>
            <a:off x="3653126" y="1975954"/>
            <a:ext cx="208094" cy="70326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ctr" anchorCtr="1">
            <a:noAutofit/>
          </a:bodyPr>
          <a:lstStyle/>
          <a:p>
            <a:pPr algn="ctr" defTabSz="914378">
              <a:buClr>
                <a:srgbClr val="3F3F3F"/>
              </a:buClr>
              <a:buSzPts val="1500"/>
              <a:buFont typeface="Arial"/>
              <a:buNone/>
            </a:pPr>
            <a:r>
              <a:rPr lang="zh-TW" altLang="en-US" sz="900" b="1" kern="0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外網防火牆</a:t>
            </a:r>
            <a:endParaRPr sz="700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77" name="肘形接點 76"/>
          <p:cNvCxnSpPr/>
          <p:nvPr/>
        </p:nvCxnSpPr>
        <p:spPr>
          <a:xfrm flipH="1" flipV="1">
            <a:off x="5583170" y="3057926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78" name="肘形接點 77"/>
          <p:cNvCxnSpPr>
            <a:stCxn id="12" idx="0"/>
            <a:endCxn id="9" idx="1"/>
          </p:cNvCxnSpPr>
          <p:nvPr/>
        </p:nvCxnSpPr>
        <p:spPr>
          <a:xfrm rot="5400000" flipH="1" flipV="1">
            <a:off x="3204211" y="1379806"/>
            <a:ext cx="576000" cy="1445837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pic>
        <p:nvPicPr>
          <p:cNvPr id="79" name="圖片 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931" y="1686680"/>
            <a:ext cx="279564" cy="252000"/>
          </a:xfrm>
          <a:prstGeom prst="rect">
            <a:avLst/>
          </a:prstGeom>
        </p:spPr>
      </p:pic>
      <p:pic>
        <p:nvPicPr>
          <p:cNvPr id="80" name="圖片 7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8851" y="2214584"/>
            <a:ext cx="279564" cy="252000"/>
          </a:xfrm>
          <a:prstGeom prst="rect">
            <a:avLst/>
          </a:prstGeom>
        </p:spPr>
      </p:pic>
      <p:cxnSp>
        <p:nvCxnSpPr>
          <p:cNvPr id="81" name="肘形接點 80"/>
          <p:cNvCxnSpPr/>
          <p:nvPr/>
        </p:nvCxnSpPr>
        <p:spPr>
          <a:xfrm flipH="1" flipV="1">
            <a:off x="3351130" y="2880974"/>
            <a:ext cx="864000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82" name="肘形接點 81"/>
          <p:cNvCxnSpPr/>
          <p:nvPr/>
        </p:nvCxnSpPr>
        <p:spPr>
          <a:xfrm rot="10800000">
            <a:off x="3351018" y="2880974"/>
            <a:ext cx="864000" cy="1152000"/>
          </a:xfrm>
          <a:prstGeom prst="bentConnector3">
            <a:avLst>
              <a:gd name="adj1" fmla="val 27386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pic>
        <p:nvPicPr>
          <p:cNvPr id="83" name="圖片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1628" y="3891469"/>
            <a:ext cx="278727" cy="252000"/>
          </a:xfrm>
          <a:prstGeom prst="rect">
            <a:avLst/>
          </a:prstGeom>
        </p:spPr>
      </p:pic>
      <p:pic>
        <p:nvPicPr>
          <p:cNvPr id="84" name="圖片 8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7978" y="2778229"/>
            <a:ext cx="278727" cy="252000"/>
          </a:xfrm>
          <a:prstGeom prst="rect">
            <a:avLst/>
          </a:prstGeom>
        </p:spPr>
      </p:pic>
      <p:pic>
        <p:nvPicPr>
          <p:cNvPr id="85" name="圖片 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58466" y="2726571"/>
            <a:ext cx="271091" cy="252000"/>
          </a:xfrm>
          <a:prstGeom prst="rect">
            <a:avLst/>
          </a:prstGeom>
        </p:spPr>
      </p:pic>
      <p:pic>
        <p:nvPicPr>
          <p:cNvPr id="86" name="圖片 8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4440" y="2991188"/>
            <a:ext cx="271091" cy="252000"/>
          </a:xfrm>
          <a:prstGeom prst="rect">
            <a:avLst/>
          </a:prstGeom>
        </p:spPr>
      </p:pic>
      <p:cxnSp>
        <p:nvCxnSpPr>
          <p:cNvPr id="87" name="肘形接點 86"/>
          <p:cNvCxnSpPr>
            <a:stCxn id="54" idx="0"/>
            <a:endCxn id="45" idx="2"/>
          </p:cNvCxnSpPr>
          <p:nvPr/>
        </p:nvCxnSpPr>
        <p:spPr>
          <a:xfrm rot="5400000" flipH="1" flipV="1">
            <a:off x="7173372" y="2539793"/>
            <a:ext cx="396000" cy="190800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6594AD"/>
            </a:solidFill>
            <a:prstDash val="solid"/>
            <a:tailEnd type="triangle"/>
          </a:ln>
          <a:effectLst/>
        </p:spPr>
      </p:cxnSp>
      <p:cxnSp>
        <p:nvCxnSpPr>
          <p:cNvPr id="88" name="肘形接點 87"/>
          <p:cNvCxnSpPr/>
          <p:nvPr/>
        </p:nvCxnSpPr>
        <p:spPr>
          <a:xfrm rot="16200000" flipH="1">
            <a:off x="6407825" y="2449463"/>
            <a:ext cx="3908" cy="3792106"/>
          </a:xfrm>
          <a:prstGeom prst="bentConnector3">
            <a:avLst>
              <a:gd name="adj1" fmla="val 5949539"/>
            </a:avLst>
          </a:prstGeom>
          <a:noFill/>
          <a:ln w="9525" cap="flat" cmpd="sng" algn="ctr">
            <a:solidFill>
              <a:srgbClr val="6594AD"/>
            </a:solidFill>
            <a:prstDash val="solid"/>
            <a:tailEnd type="triangle"/>
          </a:ln>
          <a:effectLst/>
        </p:spPr>
      </p:cxnSp>
      <p:graphicFrame>
        <p:nvGraphicFramePr>
          <p:cNvPr id="90" name="表格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3762"/>
              </p:ext>
            </p:extLst>
          </p:nvPr>
        </p:nvGraphicFramePr>
        <p:xfrm>
          <a:off x="2211596" y="4861525"/>
          <a:ext cx="73476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2672">
                  <a:extLst>
                    <a:ext uri="{9D8B030D-6E8A-4147-A177-3AD203B41FA5}">
                      <a16:colId xmlns:a16="http://schemas.microsoft.com/office/drawing/2014/main" val="2601240981"/>
                    </a:ext>
                  </a:extLst>
                </a:gridCol>
                <a:gridCol w="3884948">
                  <a:extLst>
                    <a:ext uri="{9D8B030D-6E8A-4147-A177-3AD203B41FA5}">
                      <a16:colId xmlns:a16="http://schemas.microsoft.com/office/drawing/2014/main" val="1448878510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marL="180000" indent="-171450"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 —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客戶進入臺銀房貸網</a:t>
                      </a:r>
                      <a:endParaRPr lang="zh-TW" altLang="en-US" sz="1100" b="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A2 —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傳入客戶房貸試算條件如地址、樓層、坪數等。</a:t>
                      </a:r>
                      <a:endParaRPr lang="en-US" altLang="zh-TW" sz="1100" b="0" dirty="0" smtClean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7233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180000" indent="-171450"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 — 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觸發瑞竣</a:t>
                      </a: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Server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計算鑑價價格</a:t>
                      </a:r>
                      <a:endParaRPr lang="zh-TW" altLang="en-US" sz="1100" b="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71450"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B2 — 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取得瑞竣</a:t>
                      </a: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Server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計算可貸金額與月付金額。</a:t>
                      </a:r>
                      <a:endParaRPr lang="zh-TW" altLang="en-US" sz="1100" b="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29617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180000" indent="-171450"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C1 — 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提供</a:t>
                      </a: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Client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端房貸試算成果網頁</a:t>
                      </a:r>
                      <a:endParaRPr lang="zh-TW" altLang="en-US" sz="1100" b="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71450"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C2 — 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提供</a:t>
                      </a:r>
                      <a:r>
                        <a:rPr lang="en-US" altLang="zh-TW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Client</a:t>
                      </a:r>
                      <a:r>
                        <a:rPr lang="zh-TW" altLang="en-US" sz="1100" b="0" dirty="0" smtClean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端地圖服務</a:t>
                      </a:r>
                      <a:endParaRPr lang="zh-TW" altLang="en-US" sz="1100" b="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86112"/>
                  </a:ext>
                </a:extLst>
              </a:tr>
            </a:tbl>
          </a:graphicData>
        </a:graphic>
      </p:graphicFrame>
      <p:sp>
        <p:nvSpPr>
          <p:cNvPr id="91" name="矩形 90"/>
          <p:cNvSpPr/>
          <p:nvPr/>
        </p:nvSpPr>
        <p:spPr>
          <a:xfrm>
            <a:off x="2214758" y="4427658"/>
            <a:ext cx="266767" cy="229249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92" name="文字方塊 91"/>
          <p:cNvSpPr txBox="1"/>
          <p:nvPr/>
        </p:nvSpPr>
        <p:spPr>
          <a:xfrm>
            <a:off x="2423795" y="4427658"/>
            <a:ext cx="1524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本次專案廠商負責範疇</a:t>
            </a:r>
          </a:p>
        </p:txBody>
      </p:sp>
    </p:spTree>
    <p:extLst>
      <p:ext uri="{BB962C8B-B14F-4D97-AF65-F5344CB8AC3E}">
        <p14:creationId xmlns:p14="http://schemas.microsoft.com/office/powerpoint/2010/main" val="387005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5947572" y="1301219"/>
            <a:ext cx="3611644" cy="3388674"/>
          </a:xfrm>
          <a:prstGeom prst="roundRect">
            <a:avLst>
              <a:gd name="adj" fmla="val 5819"/>
            </a:avLst>
          </a:prstGeom>
          <a:solidFill>
            <a:srgbClr val="DEEBF7"/>
          </a:solidFill>
          <a:ln w="38100" cap="flat" cmpd="sng" algn="ctr">
            <a:noFill/>
            <a:prstDash val="dash"/>
          </a:ln>
          <a:effectLst/>
        </p:spPr>
        <p:txBody>
          <a:bodyPr lIns="68580" tIns="68580" rIns="68580" bIns="68580" numCol="1" rtlCol="0" anchor="ctr">
            <a:noAutofit/>
          </a:bodyPr>
          <a:lstStyle/>
          <a:p>
            <a:pPr marL="447675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888218" y="1301220"/>
            <a:ext cx="1950874" cy="3388673"/>
          </a:xfrm>
          <a:prstGeom prst="roundRect">
            <a:avLst>
              <a:gd name="adj" fmla="val 5819"/>
            </a:avLst>
          </a:prstGeom>
          <a:solidFill>
            <a:srgbClr val="DEEBF7"/>
          </a:solidFill>
          <a:ln w="38100" cap="flat" cmpd="sng" algn="ctr">
            <a:noFill/>
            <a:prstDash val="dash"/>
          </a:ln>
          <a:effectLst/>
        </p:spPr>
        <p:txBody>
          <a:bodyPr lIns="68580" tIns="68580" rIns="68580" bIns="68580" numCol="1" rtlCol="0" anchor="ctr">
            <a:noAutofit/>
          </a:bodyPr>
          <a:lstStyle/>
          <a:p>
            <a:pPr marL="447675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4215130" y="1451419"/>
            <a:ext cx="1375073" cy="726610"/>
            <a:chOff x="2545546" y="1057197"/>
            <a:chExt cx="1375073" cy="726610"/>
          </a:xfrm>
        </p:grpSpPr>
        <p:grpSp>
          <p:nvGrpSpPr>
            <p:cNvPr id="7" name="群組 6"/>
            <p:cNvGrpSpPr/>
            <p:nvPr/>
          </p:nvGrpSpPr>
          <p:grpSpPr>
            <a:xfrm>
              <a:off x="2545546" y="1057197"/>
              <a:ext cx="1375073" cy="726610"/>
              <a:chOff x="3768066" y="2402040"/>
              <a:chExt cx="1641847" cy="806635"/>
            </a:xfrm>
          </p:grpSpPr>
          <p:pic>
            <p:nvPicPr>
              <p:cNvPr id="9" name="圖片 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" name="文字方塊 9"/>
              <p:cNvSpPr txBox="1"/>
              <p:nvPr/>
            </p:nvSpPr>
            <p:spPr>
              <a:xfrm>
                <a:off x="4352500" y="2637661"/>
                <a:ext cx="1057413" cy="410008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臺</a:t>
                </a:r>
                <a:r>
                  <a:rPr kumimoji="0" lang="zh-TW" altLang="en-US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銀前置網頁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Web Server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8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408" y="1420502"/>
              <a:ext cx="304366" cy="322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群組 10"/>
          <p:cNvGrpSpPr/>
          <p:nvPr/>
        </p:nvGrpSpPr>
        <p:grpSpPr>
          <a:xfrm>
            <a:off x="2133652" y="2211635"/>
            <a:ext cx="1149386" cy="1249648"/>
            <a:chOff x="464068" y="1817413"/>
            <a:chExt cx="1149386" cy="1249648"/>
          </a:xfrm>
        </p:grpSpPr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4">
              <a:duotone>
                <a:srgbClr val="84ACB6">
                  <a:shade val="45000"/>
                  <a:satMod val="135000"/>
                </a:srgbClr>
                <a:prstClr val="white"/>
              </a:duotone>
              <a:extLst/>
            </a:blip>
            <a:stretch>
              <a:fillRect/>
            </a:stretch>
          </p:blipFill>
          <p:spPr>
            <a:xfrm>
              <a:off x="585964" y="1817413"/>
              <a:ext cx="1027490" cy="877454"/>
            </a:xfrm>
            <a:prstGeom prst="rect">
              <a:avLst/>
            </a:prstGeom>
          </p:spPr>
        </p:pic>
        <p:grpSp>
          <p:nvGrpSpPr>
            <p:cNvPr id="13" name="群組 12"/>
            <p:cNvGrpSpPr>
              <a:grpSpLocks noChangeAspect="1"/>
            </p:cNvGrpSpPr>
            <p:nvPr/>
          </p:nvGrpSpPr>
          <p:grpSpPr>
            <a:xfrm>
              <a:off x="464068" y="2568582"/>
              <a:ext cx="935464" cy="498479"/>
              <a:chOff x="-1009629" y="4005969"/>
              <a:chExt cx="1767663" cy="971211"/>
            </a:xfrm>
          </p:grpSpPr>
          <p:grpSp>
            <p:nvGrpSpPr>
              <p:cNvPr id="17" name="Group 22">
                <a:extLst>
                  <a:ext uri="{FF2B5EF4-FFF2-40B4-BE49-F238E27FC236}">
                    <a16:creationId xmlns:a16="http://schemas.microsoft.com/office/drawing/2014/main" id="{CC285B80-8E69-4A61-8887-FD2E1D28E52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1009629" y="4005969"/>
                <a:ext cx="1767663" cy="971211"/>
                <a:chOff x="-548507" y="477868"/>
                <a:chExt cx="11570449" cy="6357177"/>
              </a:xfrm>
            </p:grpSpPr>
            <p:sp>
              <p:nvSpPr>
                <p:cNvPr id="19" name="Freeform: Shape 23">
                  <a:extLst>
                    <a:ext uri="{FF2B5EF4-FFF2-40B4-BE49-F238E27FC236}">
                      <a16:creationId xmlns:a16="http://schemas.microsoft.com/office/drawing/2014/main" id="{CB5FB9FB-60F4-461E-93D4-7F72C4E31B84}"/>
                    </a:ext>
                  </a:extLst>
                </p:cNvPr>
                <p:cNvSpPr/>
                <p:nvPr/>
              </p:nvSpPr>
              <p:spPr>
                <a:xfrm>
                  <a:off x="-482765" y="6440599"/>
                  <a:ext cx="11438966" cy="394446"/>
                </a:xfrm>
                <a:custGeom>
                  <a:avLst/>
                  <a:gdLst>
                    <a:gd name="connsiteX0" fmla="*/ 1605439 w 1657350"/>
                    <a:gd name="connsiteY0" fmla="*/ 54769 h 57150"/>
                    <a:gd name="connsiteX1" fmla="*/ 1652111 w 1657350"/>
                    <a:gd name="connsiteY1" fmla="*/ 22384 h 57150"/>
                    <a:gd name="connsiteX2" fmla="*/ 1652111 w 1657350"/>
                    <a:gd name="connsiteY2" fmla="*/ 22384 h 57150"/>
                    <a:gd name="connsiteX3" fmla="*/ 1636871 w 1657350"/>
                    <a:gd name="connsiteY3" fmla="*/ 7144 h 57150"/>
                    <a:gd name="connsiteX4" fmla="*/ 44291 w 1657350"/>
                    <a:gd name="connsiteY4" fmla="*/ 12859 h 57150"/>
                    <a:gd name="connsiteX5" fmla="*/ 23336 w 1657350"/>
                    <a:gd name="connsiteY5" fmla="*/ 12859 h 57150"/>
                    <a:gd name="connsiteX6" fmla="*/ 7144 w 1657350"/>
                    <a:gd name="connsiteY6" fmla="*/ 26194 h 57150"/>
                    <a:gd name="connsiteX7" fmla="*/ 7144 w 1657350"/>
                    <a:gd name="connsiteY7" fmla="*/ 26194 h 57150"/>
                    <a:gd name="connsiteX8" fmla="*/ 50959 w 1657350"/>
                    <a:gd name="connsiteY8" fmla="*/ 53816 h 57150"/>
                    <a:gd name="connsiteX9" fmla="*/ 51911 w 1657350"/>
                    <a:gd name="connsiteY9" fmla="*/ 54769 h 57150"/>
                    <a:gd name="connsiteX10" fmla="*/ 51911 w 1657350"/>
                    <a:gd name="connsiteY10" fmla="*/ 54769 h 57150"/>
                    <a:gd name="connsiteX11" fmla="*/ 56674 w 1657350"/>
                    <a:gd name="connsiteY11" fmla="*/ 5476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57350" h="57150">
                      <a:moveTo>
                        <a:pt x="1605439" y="54769"/>
                      </a:moveTo>
                      <a:cubicBezTo>
                        <a:pt x="1605439" y="54769"/>
                        <a:pt x="1638776" y="50959"/>
                        <a:pt x="1652111" y="22384"/>
                      </a:cubicBezTo>
                      <a:lnTo>
                        <a:pt x="1652111" y="22384"/>
                      </a:lnTo>
                      <a:cubicBezTo>
                        <a:pt x="1652111" y="13811"/>
                        <a:pt x="1645444" y="7144"/>
                        <a:pt x="1636871" y="7144"/>
                      </a:cubicBezTo>
                      <a:lnTo>
                        <a:pt x="44291" y="12859"/>
                      </a:lnTo>
                      <a:lnTo>
                        <a:pt x="23336" y="12859"/>
                      </a:lnTo>
                      <a:cubicBezTo>
                        <a:pt x="14764" y="12859"/>
                        <a:pt x="7144" y="18574"/>
                        <a:pt x="7144" y="26194"/>
                      </a:cubicBezTo>
                      <a:lnTo>
                        <a:pt x="7144" y="26194"/>
                      </a:lnTo>
                      <a:cubicBezTo>
                        <a:pt x="17621" y="45244"/>
                        <a:pt x="40481" y="51911"/>
                        <a:pt x="50959" y="53816"/>
                      </a:cubicBezTo>
                      <a:lnTo>
                        <a:pt x="51911" y="54769"/>
                      </a:lnTo>
                      <a:cubicBezTo>
                        <a:pt x="51911" y="54769"/>
                        <a:pt x="51911" y="54769"/>
                        <a:pt x="51911" y="54769"/>
                      </a:cubicBezTo>
                      <a:lnTo>
                        <a:pt x="56674" y="54769"/>
                      </a:lnTo>
                    </a:path>
                  </a:pathLst>
                </a:custGeom>
                <a:solidFill>
                  <a:srgbClr val="5F676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Freeform: Shape 24">
                  <a:extLst>
                    <a:ext uri="{FF2B5EF4-FFF2-40B4-BE49-F238E27FC236}">
                      <a16:creationId xmlns:a16="http://schemas.microsoft.com/office/drawing/2014/main" id="{BAF69974-50F2-4DAC-A5B6-B50E0A56EB6E}"/>
                    </a:ext>
                  </a:extLst>
                </p:cNvPr>
                <p:cNvSpPr/>
                <p:nvPr/>
              </p:nvSpPr>
              <p:spPr>
                <a:xfrm>
                  <a:off x="700575" y="477868"/>
                  <a:ext cx="9072285" cy="5916709"/>
                </a:xfrm>
                <a:custGeom>
                  <a:avLst/>
                  <a:gdLst>
                    <a:gd name="connsiteX0" fmla="*/ 1311116 w 1314450"/>
                    <a:gd name="connsiteY0" fmla="*/ 813911 h 857250"/>
                    <a:gd name="connsiteX1" fmla="*/ 1281589 w 1314450"/>
                    <a:gd name="connsiteY1" fmla="*/ 852964 h 857250"/>
                    <a:gd name="connsiteX2" fmla="*/ 36671 w 1314450"/>
                    <a:gd name="connsiteY2" fmla="*/ 852964 h 857250"/>
                    <a:gd name="connsiteX3" fmla="*/ 7144 w 1314450"/>
                    <a:gd name="connsiteY3" fmla="*/ 813911 h 857250"/>
                    <a:gd name="connsiteX4" fmla="*/ 7144 w 1314450"/>
                    <a:gd name="connsiteY4" fmla="*/ 46196 h 857250"/>
                    <a:gd name="connsiteX5" fmla="*/ 36671 w 1314450"/>
                    <a:gd name="connsiteY5" fmla="*/ 7144 h 857250"/>
                    <a:gd name="connsiteX6" fmla="*/ 1281589 w 1314450"/>
                    <a:gd name="connsiteY6" fmla="*/ 7144 h 857250"/>
                    <a:gd name="connsiteX7" fmla="*/ 1311116 w 1314450"/>
                    <a:gd name="connsiteY7" fmla="*/ 46196 h 857250"/>
                    <a:gd name="connsiteX8" fmla="*/ 1311116 w 1314450"/>
                    <a:gd name="connsiteY8" fmla="*/ 813911 h 857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14450" h="857250">
                      <a:moveTo>
                        <a:pt x="1311116" y="813911"/>
                      </a:moveTo>
                      <a:cubicBezTo>
                        <a:pt x="1311116" y="834866"/>
                        <a:pt x="1297781" y="852964"/>
                        <a:pt x="1281589" y="852964"/>
                      </a:cubicBezTo>
                      <a:lnTo>
                        <a:pt x="36671" y="852964"/>
                      </a:lnTo>
                      <a:cubicBezTo>
                        <a:pt x="20479" y="852964"/>
                        <a:pt x="7144" y="835819"/>
                        <a:pt x="7144" y="813911"/>
                      </a:cubicBezTo>
                      <a:lnTo>
                        <a:pt x="7144" y="46196"/>
                      </a:lnTo>
                      <a:cubicBezTo>
                        <a:pt x="7144" y="25241"/>
                        <a:pt x="20479" y="7144"/>
                        <a:pt x="36671" y="7144"/>
                      </a:cubicBezTo>
                      <a:lnTo>
                        <a:pt x="1281589" y="7144"/>
                      </a:lnTo>
                      <a:cubicBezTo>
                        <a:pt x="1297781" y="7144"/>
                        <a:pt x="1311116" y="24289"/>
                        <a:pt x="1311116" y="46196"/>
                      </a:cubicBezTo>
                      <a:lnTo>
                        <a:pt x="1311116" y="8139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Freeform: Shape 25">
                  <a:extLst>
                    <a:ext uri="{FF2B5EF4-FFF2-40B4-BE49-F238E27FC236}">
                      <a16:creationId xmlns:a16="http://schemas.microsoft.com/office/drawing/2014/main" id="{F17FABDF-C24D-49C0-AF37-DB30E59FA797}"/>
                    </a:ext>
                  </a:extLst>
                </p:cNvPr>
                <p:cNvSpPr/>
                <p:nvPr/>
              </p:nvSpPr>
              <p:spPr>
                <a:xfrm>
                  <a:off x="1088451" y="839448"/>
                  <a:ext cx="8283390" cy="5062073"/>
                </a:xfrm>
                <a:custGeom>
                  <a:avLst/>
                  <a:gdLst>
                    <a:gd name="connsiteX0" fmla="*/ 7144 w 1200150"/>
                    <a:gd name="connsiteY0" fmla="*/ 7144 h 733425"/>
                    <a:gd name="connsiteX1" fmla="*/ 1196816 w 1200150"/>
                    <a:gd name="connsiteY1" fmla="*/ 7144 h 733425"/>
                    <a:gd name="connsiteX2" fmla="*/ 1196816 w 1200150"/>
                    <a:gd name="connsiteY2" fmla="*/ 730091 h 733425"/>
                    <a:gd name="connsiteX3" fmla="*/ 7144 w 1200150"/>
                    <a:gd name="connsiteY3" fmla="*/ 730091 h 733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0150" h="733425">
                      <a:moveTo>
                        <a:pt x="7144" y="7144"/>
                      </a:moveTo>
                      <a:lnTo>
                        <a:pt x="1196816" y="7144"/>
                      </a:lnTo>
                      <a:lnTo>
                        <a:pt x="1196816" y="730091"/>
                      </a:lnTo>
                      <a:lnTo>
                        <a:pt x="7144" y="73009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2" name="Freeform: Shape 26">
                  <a:extLst>
                    <a:ext uri="{FF2B5EF4-FFF2-40B4-BE49-F238E27FC236}">
                      <a16:creationId xmlns:a16="http://schemas.microsoft.com/office/drawing/2014/main" id="{DA20BA7B-E89F-4D4C-AD0F-D2B4DB5D798D}"/>
                    </a:ext>
                  </a:extLst>
                </p:cNvPr>
                <p:cNvSpPr/>
                <p:nvPr/>
              </p:nvSpPr>
              <p:spPr>
                <a:xfrm>
                  <a:off x="-548507" y="6164484"/>
                  <a:ext cx="11570449" cy="460187"/>
                </a:xfrm>
                <a:custGeom>
                  <a:avLst/>
                  <a:gdLst>
                    <a:gd name="connsiteX0" fmla="*/ 50006 w 1676400"/>
                    <a:gd name="connsiteY0" fmla="*/ 7144 h 66675"/>
                    <a:gd name="connsiteX1" fmla="*/ 1630204 w 1676400"/>
                    <a:gd name="connsiteY1" fmla="*/ 7144 h 66675"/>
                    <a:gd name="connsiteX2" fmla="*/ 1672114 w 1676400"/>
                    <a:gd name="connsiteY2" fmla="*/ 49054 h 66675"/>
                    <a:gd name="connsiteX3" fmla="*/ 1672114 w 1676400"/>
                    <a:gd name="connsiteY3" fmla="*/ 57626 h 66675"/>
                    <a:gd name="connsiteX4" fmla="*/ 1656874 w 1676400"/>
                    <a:gd name="connsiteY4" fmla="*/ 62389 h 66675"/>
                    <a:gd name="connsiteX5" fmla="*/ 1654016 w 1676400"/>
                    <a:gd name="connsiteY5" fmla="*/ 62389 h 66675"/>
                    <a:gd name="connsiteX6" fmla="*/ 29051 w 1676400"/>
                    <a:gd name="connsiteY6" fmla="*/ 62389 h 66675"/>
                    <a:gd name="connsiteX7" fmla="*/ 21431 w 1676400"/>
                    <a:gd name="connsiteY7" fmla="*/ 63341 h 66675"/>
                    <a:gd name="connsiteX8" fmla="*/ 7144 w 1676400"/>
                    <a:gd name="connsiteY8" fmla="*/ 55721 h 66675"/>
                    <a:gd name="connsiteX9" fmla="*/ 7144 w 1676400"/>
                    <a:gd name="connsiteY9" fmla="*/ 48101 h 66675"/>
                    <a:gd name="connsiteX10" fmla="*/ 50006 w 1676400"/>
                    <a:gd name="connsiteY10" fmla="*/ 714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76400" h="66675">
                      <a:moveTo>
                        <a:pt x="50006" y="7144"/>
                      </a:moveTo>
                      <a:lnTo>
                        <a:pt x="1630204" y="7144"/>
                      </a:lnTo>
                      <a:cubicBezTo>
                        <a:pt x="1653064" y="7144"/>
                        <a:pt x="1672114" y="26194"/>
                        <a:pt x="1672114" y="49054"/>
                      </a:cubicBezTo>
                      <a:lnTo>
                        <a:pt x="1672114" y="57626"/>
                      </a:lnTo>
                      <a:cubicBezTo>
                        <a:pt x="1672114" y="57626"/>
                        <a:pt x="1674019" y="64294"/>
                        <a:pt x="1656874" y="62389"/>
                      </a:cubicBezTo>
                      <a:cubicBezTo>
                        <a:pt x="1655921" y="62389"/>
                        <a:pt x="1654969" y="62389"/>
                        <a:pt x="1654016" y="62389"/>
                      </a:cubicBezTo>
                      <a:lnTo>
                        <a:pt x="29051" y="62389"/>
                      </a:lnTo>
                      <a:cubicBezTo>
                        <a:pt x="26194" y="62389"/>
                        <a:pt x="24289" y="62389"/>
                        <a:pt x="21431" y="63341"/>
                      </a:cubicBezTo>
                      <a:cubicBezTo>
                        <a:pt x="16669" y="64294"/>
                        <a:pt x="8096" y="64294"/>
                        <a:pt x="7144" y="55721"/>
                      </a:cubicBezTo>
                      <a:lnTo>
                        <a:pt x="7144" y="48101"/>
                      </a:lnTo>
                      <a:cubicBezTo>
                        <a:pt x="8096" y="25241"/>
                        <a:pt x="26194" y="7144"/>
                        <a:pt x="50006" y="7144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sp>
              <p:nvSpPr>
                <p:cNvPr id="23" name="Freeform: Shape 27">
                  <a:extLst>
                    <a:ext uri="{FF2B5EF4-FFF2-40B4-BE49-F238E27FC236}">
                      <a16:creationId xmlns:a16="http://schemas.microsoft.com/office/drawing/2014/main" id="{05FC359D-90A9-482C-9CA3-9CA252BE773E}"/>
                    </a:ext>
                  </a:extLst>
                </p:cNvPr>
                <p:cNvSpPr/>
                <p:nvPr/>
              </p:nvSpPr>
              <p:spPr>
                <a:xfrm>
                  <a:off x="4438629" y="6215033"/>
                  <a:ext cx="1618413" cy="184076"/>
                </a:xfrm>
                <a:custGeom>
                  <a:avLst/>
                  <a:gdLst>
                    <a:gd name="connsiteX0" fmla="*/ 1478513 w 1618413"/>
                    <a:gd name="connsiteY0" fmla="*/ 177499 h 184076"/>
                    <a:gd name="connsiteX1" fmla="*/ 1485084 w 1618413"/>
                    <a:gd name="connsiteY1" fmla="*/ 177499 h 184076"/>
                    <a:gd name="connsiteX2" fmla="*/ 1502686 w 1618413"/>
                    <a:gd name="connsiteY2" fmla="*/ 178122 h 184076"/>
                    <a:gd name="connsiteX3" fmla="*/ 1499879 w 1618413"/>
                    <a:gd name="connsiteY3" fmla="*/ 178526 h 184076"/>
                    <a:gd name="connsiteX4" fmla="*/ 1478513 w 1618413"/>
                    <a:gd name="connsiteY4" fmla="*/ 177499 h 184076"/>
                    <a:gd name="connsiteX5" fmla="*/ 84799 w 1618413"/>
                    <a:gd name="connsiteY5" fmla="*/ 170928 h 184076"/>
                    <a:gd name="connsiteX6" fmla="*/ 117666 w 1618413"/>
                    <a:gd name="connsiteY6" fmla="*/ 177499 h 184076"/>
                    <a:gd name="connsiteX7" fmla="*/ 104518 w 1618413"/>
                    <a:gd name="connsiteY7" fmla="*/ 177499 h 184076"/>
                    <a:gd name="connsiteX8" fmla="*/ 84799 w 1618413"/>
                    <a:gd name="connsiteY8" fmla="*/ 170928 h 184076"/>
                    <a:gd name="connsiteX9" fmla="*/ 1603418 w 1618413"/>
                    <a:gd name="connsiteY9" fmla="*/ 0 h 184076"/>
                    <a:gd name="connsiteX10" fmla="*/ 1616567 w 1618413"/>
                    <a:gd name="connsiteY10" fmla="*/ 0 h 184076"/>
                    <a:gd name="connsiteX11" fmla="*/ 1511177 w 1618413"/>
                    <a:gd name="connsiteY11" fmla="*/ 178423 h 184076"/>
                    <a:gd name="connsiteX12" fmla="*/ 1502686 w 1618413"/>
                    <a:gd name="connsiteY12" fmla="*/ 178122 h 184076"/>
                    <a:gd name="connsiteX13" fmla="*/ 1521501 w 1618413"/>
                    <a:gd name="connsiteY13" fmla="*/ 175419 h 184076"/>
                    <a:gd name="connsiteX14" fmla="*/ 1603418 w 1618413"/>
                    <a:gd name="connsiteY14" fmla="*/ 6571 h 184076"/>
                    <a:gd name="connsiteX15" fmla="*/ 5911 w 1618413"/>
                    <a:gd name="connsiteY15" fmla="*/ 0 h 184076"/>
                    <a:gd name="connsiteX16" fmla="*/ 19060 w 1618413"/>
                    <a:gd name="connsiteY16" fmla="*/ 6571 h 184076"/>
                    <a:gd name="connsiteX17" fmla="*/ 91379 w 1618413"/>
                    <a:gd name="connsiteY17" fmla="*/ 184076 h 184076"/>
                    <a:gd name="connsiteX18" fmla="*/ 5911 w 1618413"/>
                    <a:gd name="connsiteY18" fmla="*/ 0 h 184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618413" h="184076">
                      <a:moveTo>
                        <a:pt x="1478513" y="177499"/>
                      </a:moveTo>
                      <a:lnTo>
                        <a:pt x="1485084" y="177499"/>
                      </a:lnTo>
                      <a:lnTo>
                        <a:pt x="1502686" y="178122"/>
                      </a:lnTo>
                      <a:lnTo>
                        <a:pt x="1499879" y="178526"/>
                      </a:lnTo>
                      <a:cubicBezTo>
                        <a:pt x="1487142" y="179142"/>
                        <a:pt x="1478513" y="177499"/>
                        <a:pt x="1478513" y="177499"/>
                      </a:cubicBezTo>
                      <a:close/>
                      <a:moveTo>
                        <a:pt x="84799" y="170928"/>
                      </a:moveTo>
                      <a:cubicBezTo>
                        <a:pt x="97947" y="177499"/>
                        <a:pt x="104518" y="177499"/>
                        <a:pt x="117666" y="177499"/>
                      </a:cubicBezTo>
                      <a:lnTo>
                        <a:pt x="104518" y="177499"/>
                      </a:lnTo>
                      <a:cubicBezTo>
                        <a:pt x="97947" y="177499"/>
                        <a:pt x="91370" y="177499"/>
                        <a:pt x="84799" y="170928"/>
                      </a:cubicBezTo>
                      <a:close/>
                      <a:moveTo>
                        <a:pt x="1603418" y="0"/>
                      </a:moveTo>
                      <a:lnTo>
                        <a:pt x="1616567" y="0"/>
                      </a:lnTo>
                      <a:cubicBezTo>
                        <a:pt x="1631361" y="152847"/>
                        <a:pt x="1553705" y="176266"/>
                        <a:pt x="1511177" y="178423"/>
                      </a:cubicBezTo>
                      <a:lnTo>
                        <a:pt x="1502686" y="178122"/>
                      </a:lnTo>
                      <a:lnTo>
                        <a:pt x="1521501" y="175419"/>
                      </a:lnTo>
                      <a:cubicBezTo>
                        <a:pt x="1560791" y="165788"/>
                        <a:pt x="1611636" y="129836"/>
                        <a:pt x="1603418" y="6571"/>
                      </a:cubicBezTo>
                      <a:close/>
                      <a:moveTo>
                        <a:pt x="5911" y="0"/>
                      </a:moveTo>
                      <a:lnTo>
                        <a:pt x="19060" y="6571"/>
                      </a:lnTo>
                      <a:cubicBezTo>
                        <a:pt x="19060" y="6571"/>
                        <a:pt x="-20385" y="144631"/>
                        <a:pt x="91379" y="184076"/>
                      </a:cubicBezTo>
                      <a:cubicBezTo>
                        <a:pt x="-33534" y="151202"/>
                        <a:pt x="5911" y="0"/>
                        <a:pt x="5911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  <p:grpSp>
              <p:nvGrpSpPr>
                <p:cNvPr id="24" name="Group 28">
                  <a:extLst>
                    <a:ext uri="{FF2B5EF4-FFF2-40B4-BE49-F238E27FC236}">
                      <a16:creationId xmlns:a16="http://schemas.microsoft.com/office/drawing/2014/main" id="{221A908A-5604-4CC2-AE54-88CB214A6B7C}"/>
                    </a:ext>
                  </a:extLst>
                </p:cNvPr>
                <p:cNvGrpSpPr/>
                <p:nvPr/>
              </p:nvGrpSpPr>
              <p:grpSpPr>
                <a:xfrm>
                  <a:off x="1606" y="6382978"/>
                  <a:ext cx="413937" cy="115242"/>
                  <a:chOff x="5955" y="6353672"/>
                  <a:chExt cx="413937" cy="115242"/>
                </a:xfrm>
              </p:grpSpPr>
              <p:sp>
                <p:nvSpPr>
                  <p:cNvPr id="29" name="Rectangle: Rounded Corners 33">
                    <a:extLst>
                      <a:ext uri="{FF2B5EF4-FFF2-40B4-BE49-F238E27FC236}">
                        <a16:creationId xmlns:a16="http://schemas.microsoft.com/office/drawing/2014/main" id="{3E34D388-31FA-48B2-9A79-9026438DA940}"/>
                      </a:ext>
                    </a:extLst>
                  </p:cNvPr>
                  <p:cNvSpPr/>
                  <p:nvPr/>
                </p:nvSpPr>
                <p:spPr>
                  <a:xfrm>
                    <a:off x="5955" y="6353672"/>
                    <a:ext cx="413937" cy="11524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" lastClr="FFFFFF">
                      <a:lumMod val="7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  <p:sp>
                <p:nvSpPr>
                  <p:cNvPr id="30" name="Rectangle: Rounded Corners 34">
                    <a:extLst>
                      <a:ext uri="{FF2B5EF4-FFF2-40B4-BE49-F238E27FC236}">
                        <a16:creationId xmlns:a16="http://schemas.microsoft.com/office/drawing/2014/main" id="{A63EC858-83D3-4916-9F39-2D2CCF5AB2A6}"/>
                      </a:ext>
                    </a:extLst>
                  </p:cNvPr>
                  <p:cNvSpPr/>
                  <p:nvPr/>
                </p:nvSpPr>
                <p:spPr>
                  <a:xfrm>
                    <a:off x="99417" y="6382279"/>
                    <a:ext cx="227012" cy="5527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Text" lastClr="000000">
                      <a:lumMod val="65000"/>
                      <a:lumOff val="3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</p:grpSp>
            <p:grpSp>
              <p:nvGrpSpPr>
                <p:cNvPr id="25" name="Group 29">
                  <a:extLst>
                    <a:ext uri="{FF2B5EF4-FFF2-40B4-BE49-F238E27FC236}">
                      <a16:creationId xmlns:a16="http://schemas.microsoft.com/office/drawing/2014/main" id="{BBA5312C-D333-4BC0-AB97-E24E57ED4028}"/>
                    </a:ext>
                  </a:extLst>
                </p:cNvPr>
                <p:cNvGrpSpPr/>
                <p:nvPr/>
              </p:nvGrpSpPr>
              <p:grpSpPr>
                <a:xfrm>
                  <a:off x="9855291" y="6381600"/>
                  <a:ext cx="885989" cy="115242"/>
                  <a:chOff x="5955" y="6353672"/>
                  <a:chExt cx="413937" cy="115242"/>
                </a:xfrm>
              </p:grpSpPr>
              <p:sp>
                <p:nvSpPr>
                  <p:cNvPr id="27" name="Rectangle: Rounded Corners 31">
                    <a:extLst>
                      <a:ext uri="{FF2B5EF4-FFF2-40B4-BE49-F238E27FC236}">
                        <a16:creationId xmlns:a16="http://schemas.microsoft.com/office/drawing/2014/main" id="{7572308F-23D1-4E27-9341-B046CBD78EDC}"/>
                      </a:ext>
                    </a:extLst>
                  </p:cNvPr>
                  <p:cNvSpPr/>
                  <p:nvPr/>
                </p:nvSpPr>
                <p:spPr>
                  <a:xfrm>
                    <a:off x="5955" y="6353672"/>
                    <a:ext cx="413937" cy="11524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" lastClr="FFFFFF">
                      <a:lumMod val="7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  <p:sp>
                <p:nvSpPr>
                  <p:cNvPr id="28" name="Rectangle: Rounded Corners 32">
                    <a:extLst>
                      <a:ext uri="{FF2B5EF4-FFF2-40B4-BE49-F238E27FC236}">
                        <a16:creationId xmlns:a16="http://schemas.microsoft.com/office/drawing/2014/main" id="{39499F02-2ACE-4598-B439-660BDC0C48BE}"/>
                      </a:ext>
                    </a:extLst>
                  </p:cNvPr>
                  <p:cNvSpPr/>
                  <p:nvPr/>
                </p:nvSpPr>
                <p:spPr>
                  <a:xfrm>
                    <a:off x="84761" y="6382279"/>
                    <a:ext cx="256326" cy="55272"/>
                  </a:xfrm>
                  <a:prstGeom prst="roundRect">
                    <a:avLst>
                      <a:gd name="adj" fmla="val 28154"/>
                    </a:avLst>
                  </a:prstGeom>
                  <a:solidFill>
                    <a:sysClr val="windowText" lastClr="000000">
                      <a:lumMod val="65000"/>
                      <a:lumOff val="35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05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Helvetica"/>
                      <a:sym typeface="Arial"/>
                    </a:endParaRPr>
                  </a:p>
                </p:txBody>
              </p:sp>
            </p:grpSp>
            <p:sp>
              <p:nvSpPr>
                <p:cNvPr id="26" name="Freeform: Shape 30">
                  <a:extLst>
                    <a:ext uri="{FF2B5EF4-FFF2-40B4-BE49-F238E27FC236}">
                      <a16:creationId xmlns:a16="http://schemas.microsoft.com/office/drawing/2014/main" id="{F27C83E3-3E04-489C-BD06-17C1994CC711}"/>
                    </a:ext>
                  </a:extLst>
                </p:cNvPr>
                <p:cNvSpPr/>
                <p:nvPr/>
              </p:nvSpPr>
              <p:spPr>
                <a:xfrm>
                  <a:off x="3892805" y="496953"/>
                  <a:ext cx="5479036" cy="5431217"/>
                </a:xfrm>
                <a:custGeom>
                  <a:avLst/>
                  <a:gdLst>
                    <a:gd name="connsiteX0" fmla="*/ 2567127 w 4009217"/>
                    <a:gd name="connsiteY0" fmla="*/ 30683 h 4295590"/>
                    <a:gd name="connsiteX1" fmla="*/ 3798529 w 4009217"/>
                    <a:gd name="connsiteY1" fmla="*/ 30683 h 4295590"/>
                    <a:gd name="connsiteX2" fmla="*/ 4007172 w 4009217"/>
                    <a:gd name="connsiteY2" fmla="*/ 272054 h 4295590"/>
                    <a:gd name="connsiteX3" fmla="*/ 3998990 w 4009217"/>
                    <a:gd name="connsiteY3" fmla="*/ 4268999 h 4295590"/>
                    <a:gd name="connsiteX4" fmla="*/ 30683 w 4009217"/>
                    <a:gd name="connsiteY4" fmla="*/ 4268999 h 4295590"/>
                    <a:gd name="connsiteX0" fmla="*/ 2536444 w 3976489"/>
                    <a:gd name="connsiteY0" fmla="*/ 0 h 4238316"/>
                    <a:gd name="connsiteX1" fmla="*/ 3976489 w 3976489"/>
                    <a:gd name="connsiteY1" fmla="*/ 241371 h 4238316"/>
                    <a:gd name="connsiteX2" fmla="*/ 3968307 w 3976489"/>
                    <a:gd name="connsiteY2" fmla="*/ 4238316 h 4238316"/>
                    <a:gd name="connsiteX3" fmla="*/ 0 w 3976489"/>
                    <a:gd name="connsiteY3" fmla="*/ 4238316 h 4238316"/>
                    <a:gd name="connsiteX0" fmla="*/ 2536444 w 3976489"/>
                    <a:gd name="connsiteY0" fmla="*/ 0 h 4238316"/>
                    <a:gd name="connsiteX1" fmla="*/ 3976489 w 3976489"/>
                    <a:gd name="connsiteY1" fmla="*/ 213683 h 4238316"/>
                    <a:gd name="connsiteX2" fmla="*/ 3968307 w 3976489"/>
                    <a:gd name="connsiteY2" fmla="*/ 4238316 h 4238316"/>
                    <a:gd name="connsiteX3" fmla="*/ 0 w 3976489"/>
                    <a:gd name="connsiteY3" fmla="*/ 4238316 h 4238316"/>
                    <a:gd name="connsiteX0" fmla="*/ 2473335 w 3976489"/>
                    <a:gd name="connsiteY0" fmla="*/ 0 h 4035268"/>
                    <a:gd name="connsiteX1" fmla="*/ 3976489 w 3976489"/>
                    <a:gd name="connsiteY1" fmla="*/ 10635 h 4035268"/>
                    <a:gd name="connsiteX2" fmla="*/ 3968307 w 3976489"/>
                    <a:gd name="connsiteY2" fmla="*/ 4035268 h 4035268"/>
                    <a:gd name="connsiteX3" fmla="*/ 0 w 3976489"/>
                    <a:gd name="connsiteY3" fmla="*/ 4035268 h 403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76489" h="4035268">
                      <a:moveTo>
                        <a:pt x="2473335" y="0"/>
                      </a:moveTo>
                      <a:lnTo>
                        <a:pt x="3976489" y="10635"/>
                      </a:lnTo>
                      <a:cubicBezTo>
                        <a:pt x="3973762" y="1342950"/>
                        <a:pt x="3971034" y="2702953"/>
                        <a:pt x="3968307" y="4035268"/>
                      </a:cubicBezTo>
                      <a:lnTo>
                        <a:pt x="0" y="4035268"/>
                      </a:lnTo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105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8" name="圖片 17"/>
              <p:cNvPicPr>
                <a:picLocks noChangeAspect="1"/>
              </p:cNvPicPr>
              <p:nvPr/>
            </p:nvPicPr>
            <p:blipFill rotWithShape="1">
              <a:blip r:embed="rId5"/>
              <a:srcRect b="16853"/>
              <a:stretch/>
            </p:blipFill>
            <p:spPr>
              <a:xfrm>
                <a:off x="-743728" y="4048758"/>
                <a:ext cx="1249670" cy="800241"/>
              </a:xfrm>
              <a:prstGeom prst="rect">
                <a:avLst/>
              </a:prstGeom>
            </p:spPr>
          </p:pic>
        </p:grpSp>
        <p:grpSp>
          <p:nvGrpSpPr>
            <p:cNvPr id="14" name="群組 13"/>
            <p:cNvGrpSpPr>
              <a:grpSpLocks noChangeAspect="1"/>
            </p:cNvGrpSpPr>
            <p:nvPr/>
          </p:nvGrpSpPr>
          <p:grpSpPr>
            <a:xfrm>
              <a:off x="1316001" y="2568581"/>
              <a:ext cx="274261" cy="481139"/>
              <a:chOff x="675864" y="3854165"/>
              <a:chExt cx="743064" cy="1448346"/>
            </a:xfrm>
          </p:grpSpPr>
          <p:pic>
            <p:nvPicPr>
              <p:cNvPr id="15" name="圖片 14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675864" y="3854165"/>
                <a:ext cx="743064" cy="1448346"/>
              </a:xfrm>
              <a:prstGeom prst="rect">
                <a:avLst/>
              </a:prstGeom>
            </p:spPr>
          </p:pic>
          <p:pic>
            <p:nvPicPr>
              <p:cNvPr id="16" name="圖片 15"/>
              <p:cNvPicPr>
                <a:picLocks noChangeAspect="1"/>
              </p:cNvPicPr>
              <p:nvPr/>
            </p:nvPicPr>
            <p:blipFill rotWithShape="1">
              <a:blip r:embed="rId5"/>
              <a:srcRect l="27532" t="-1087" r="31684" b="4522"/>
              <a:stretch/>
            </p:blipFill>
            <p:spPr>
              <a:xfrm>
                <a:off x="799323" y="4076786"/>
                <a:ext cx="509665" cy="929390"/>
              </a:xfrm>
              <a:prstGeom prst="rect">
                <a:avLst/>
              </a:prstGeom>
            </p:spPr>
          </p:pic>
        </p:grpSp>
      </p:grpSp>
      <p:grpSp>
        <p:nvGrpSpPr>
          <p:cNvPr id="31" name="群組 30"/>
          <p:cNvGrpSpPr/>
          <p:nvPr/>
        </p:nvGrpSpPr>
        <p:grpSpPr>
          <a:xfrm>
            <a:off x="4204126" y="2517670"/>
            <a:ext cx="1399874" cy="726610"/>
            <a:chOff x="2545547" y="1057197"/>
            <a:chExt cx="1399874" cy="726610"/>
          </a:xfrm>
        </p:grpSpPr>
        <p:grpSp>
          <p:nvGrpSpPr>
            <p:cNvPr id="32" name="群組 31"/>
            <p:cNvGrpSpPr/>
            <p:nvPr/>
          </p:nvGrpSpPr>
          <p:grpSpPr>
            <a:xfrm>
              <a:off x="2545547" y="1057197"/>
              <a:ext cx="1399874" cy="726610"/>
              <a:chOff x="3768066" y="2402040"/>
              <a:chExt cx="1671459" cy="806635"/>
            </a:xfrm>
          </p:grpSpPr>
          <p:pic>
            <p:nvPicPr>
              <p:cNvPr id="34" name="圖片 3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35" name="文字方塊 34"/>
              <p:cNvSpPr txBox="1"/>
              <p:nvPr/>
            </p:nvSpPr>
            <p:spPr>
              <a:xfrm>
                <a:off x="4382112" y="2595085"/>
                <a:ext cx="1057413" cy="568178"/>
              </a:xfrm>
              <a:prstGeom prst="rect">
                <a:avLst/>
              </a:prstGeom>
              <a:solidFill>
                <a:srgbClr val="31528D"/>
              </a:solidFill>
              <a:ln>
                <a:solidFill>
                  <a:sysClr val="windowText" lastClr="000000">
                    <a:lumMod val="75000"/>
                    <a:lumOff val="25000"/>
                  </a:sysClr>
                </a:solidFill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cs typeface="Arial"/>
                    <a:sym typeface="Arial"/>
                  </a:rPr>
                  <a:t>線上房貸</a:t>
                </a:r>
                <a:r>
                  <a:rPr lang="zh-TW" altLang="en-US" sz="900" kern="0" dirty="0">
                    <a:solidFill>
                      <a:prstClr val="white"/>
                    </a:solidFill>
                    <a:cs typeface="Arial"/>
                    <a:sym typeface="Arial"/>
                  </a:rPr>
                  <a:t>試</a:t>
                </a:r>
                <a:r>
                  <a:rPr lang="zh-TW" altLang="en-US" sz="900" kern="0" dirty="0" smtClean="0">
                    <a:solidFill>
                      <a:prstClr val="white"/>
                    </a:solidFill>
                    <a:cs typeface="Arial"/>
                    <a:sym typeface="Arial"/>
                  </a:rPr>
                  <a:t>算網頁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Web Server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33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408" y="1420502"/>
              <a:ext cx="304366" cy="322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群組 35"/>
          <p:cNvGrpSpPr/>
          <p:nvPr/>
        </p:nvGrpSpPr>
        <p:grpSpPr>
          <a:xfrm>
            <a:off x="4175941" y="3654164"/>
            <a:ext cx="1366618" cy="726610"/>
            <a:chOff x="2545545" y="1057197"/>
            <a:chExt cx="1366618" cy="726610"/>
          </a:xfrm>
        </p:grpSpPr>
        <p:grpSp>
          <p:nvGrpSpPr>
            <p:cNvPr id="37" name="群組 36"/>
            <p:cNvGrpSpPr/>
            <p:nvPr/>
          </p:nvGrpSpPr>
          <p:grpSpPr>
            <a:xfrm>
              <a:off x="2545545" y="1057197"/>
              <a:ext cx="1366618" cy="726610"/>
              <a:chOff x="3768066" y="2402040"/>
              <a:chExt cx="1631752" cy="806635"/>
            </a:xfrm>
          </p:grpSpPr>
          <p:pic>
            <p:nvPicPr>
              <p:cNvPr id="39" name="圖片 3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40" name="文字方塊 39"/>
              <p:cNvSpPr txBox="1"/>
              <p:nvPr/>
            </p:nvSpPr>
            <p:spPr>
              <a:xfrm>
                <a:off x="4342405" y="2572704"/>
                <a:ext cx="1057413" cy="56350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MAP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zh-TW" altLang="en-US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主機</a:t>
                </a:r>
                <a:endParaRPr kumimoji="0" lang="en-US" altLang="zh-TW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ArcGIS Server</a:t>
                </a:r>
                <a:endParaRPr kumimoji="0" lang="zh-TW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38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408" y="1420502"/>
              <a:ext cx="304366" cy="322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文字方塊 40"/>
          <p:cNvSpPr txBox="1"/>
          <p:nvPr/>
        </p:nvSpPr>
        <p:spPr>
          <a:xfrm>
            <a:off x="4008942" y="1154406"/>
            <a:ext cx="179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行內</a:t>
            </a:r>
            <a:r>
              <a:rPr lang="en-US" altLang="zh-TW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DMZ</a:t>
            </a: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區</a:t>
            </a:r>
            <a:endParaRPr lang="zh-TW" altLang="en-US" sz="14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987027" y="1154406"/>
            <a:ext cx="3761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行</a:t>
            </a:r>
            <a:r>
              <a:rPr lang="zh-TW" altLang="en-US" sz="1400" b="1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內</a:t>
            </a:r>
            <a:r>
              <a:rPr lang="en-US" altLang="zh-TW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Intranet</a:t>
            </a:r>
            <a:r>
              <a:rPr lang="zh-TW" altLang="en-US" sz="1400" b="1" kern="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區</a:t>
            </a:r>
            <a:endParaRPr lang="zh-TW" altLang="en-US" sz="1400" b="1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7987587" y="2569183"/>
            <a:ext cx="1429076" cy="726610"/>
            <a:chOff x="3768066" y="2402040"/>
            <a:chExt cx="1706327" cy="806635"/>
          </a:xfrm>
        </p:grpSpPr>
        <p:sp>
          <p:nvSpPr>
            <p:cNvPr id="44" name="文字方塊 43"/>
            <p:cNvSpPr txBox="1"/>
            <p:nvPr/>
          </p:nvSpPr>
          <p:spPr>
            <a:xfrm>
              <a:off x="4416980" y="2524195"/>
              <a:ext cx="1057413" cy="576960"/>
            </a:xfrm>
            <a:prstGeom prst="rect">
              <a:avLst/>
            </a:prstGeom>
            <a:solidFill>
              <a:srgbClr val="31528D"/>
            </a:solidFill>
            <a:ln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zh-TW"/>
              </a:defPPr>
              <a:lvl1pPr algn="ctr">
                <a:defRPr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zh-TW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地</a:t>
              </a:r>
              <a:r>
                <a:rPr kumimoji="1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圖</a:t>
              </a:r>
              <a:r>
                <a:rPr kumimoji="1" lang="zh-TW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資料庫</a:t>
              </a:r>
              <a:endParaRPr kumimoji="1" lang="en-US" altLang="zh-TW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endParaRPr>
            </a:p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en-US" altLang="zh-TW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/>
                  <a:sym typeface="Arial"/>
                </a:rPr>
                <a:t>DB Server</a:t>
              </a:r>
              <a:endParaRPr kumimoji="1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pic>
          <p:nvPicPr>
            <p:cNvPr id="45" name="圖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8066" y="2402040"/>
              <a:ext cx="806635" cy="806635"/>
            </a:xfrm>
            <a:prstGeom prst="rect">
              <a:avLst/>
            </a:prstGeom>
          </p:spPr>
        </p:pic>
        <p:pic>
          <p:nvPicPr>
            <p:cNvPr id="46" name="圖片 4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051" y="2795797"/>
              <a:ext cx="376598" cy="376598"/>
            </a:xfrm>
            <a:prstGeom prst="rect">
              <a:avLst/>
            </a:prstGeom>
          </p:spPr>
        </p:pic>
      </p:grpSp>
      <p:grpSp>
        <p:nvGrpSpPr>
          <p:cNvPr id="47" name="群組 46"/>
          <p:cNvGrpSpPr/>
          <p:nvPr/>
        </p:nvGrpSpPr>
        <p:grpSpPr>
          <a:xfrm>
            <a:off x="7968047" y="3658072"/>
            <a:ext cx="1429076" cy="726610"/>
            <a:chOff x="3768066" y="2402040"/>
            <a:chExt cx="1706327" cy="806635"/>
          </a:xfrm>
        </p:grpSpPr>
        <p:sp>
          <p:nvSpPr>
            <p:cNvPr id="48" name="文字方塊 47"/>
            <p:cNvSpPr txBox="1"/>
            <p:nvPr/>
          </p:nvSpPr>
          <p:spPr>
            <a:xfrm>
              <a:off x="4416980" y="2576847"/>
              <a:ext cx="1057413" cy="56350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wrap="square" rtlCol="0" anchor="ctr">
              <a:noAutofit/>
            </a:bodyPr>
            <a:lstStyle>
              <a:defPPr>
                <a:defRPr lang="zh-TW"/>
              </a:defPPr>
              <a:lvl1pPr algn="ctr">
                <a:defRPr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</a:lstStyle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en-US" altLang="zh-TW" sz="9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  <a:sym typeface="Arial"/>
                </a:rPr>
                <a:t>eMap</a:t>
              </a:r>
              <a:r>
                <a:rPr kumimoji="1" lang="zh-TW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  <a:sym typeface="Arial"/>
                </a:rPr>
                <a:t>資料庫</a:t>
              </a:r>
              <a:endParaRPr kumimoji="1" lang="en-US" altLang="zh-TW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Arial"/>
                <a:sym typeface="Arial"/>
              </a:endParaRPr>
            </a:p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  <a:tabLst/>
                <a:defRPr/>
              </a:pPr>
              <a:r>
                <a:rPr kumimoji="1" lang="en-US" altLang="zh-TW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Arial"/>
                  <a:sym typeface="Arial"/>
                </a:rPr>
                <a:t>DB Server</a:t>
              </a:r>
              <a:endParaRPr kumimoji="1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pic>
          <p:nvPicPr>
            <p:cNvPr id="49" name="圖片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8066" y="2402040"/>
              <a:ext cx="806635" cy="806635"/>
            </a:xfrm>
            <a:prstGeom prst="rect">
              <a:avLst/>
            </a:prstGeom>
          </p:spPr>
        </p:pic>
        <p:pic>
          <p:nvPicPr>
            <p:cNvPr id="50" name="圖片 4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051" y="2795797"/>
              <a:ext cx="376598" cy="376598"/>
            </a:xfrm>
            <a:prstGeom prst="rect">
              <a:avLst/>
            </a:prstGeom>
          </p:spPr>
        </p:pic>
      </p:grpSp>
      <p:grpSp>
        <p:nvGrpSpPr>
          <p:cNvPr id="51" name="群組 50"/>
          <p:cNvGrpSpPr/>
          <p:nvPr/>
        </p:nvGrpSpPr>
        <p:grpSpPr>
          <a:xfrm>
            <a:off x="6155870" y="3645552"/>
            <a:ext cx="1381568" cy="726610"/>
            <a:chOff x="2545545" y="1057196"/>
            <a:chExt cx="1381568" cy="726610"/>
          </a:xfrm>
        </p:grpSpPr>
        <p:grpSp>
          <p:nvGrpSpPr>
            <p:cNvPr id="52" name="群組 51"/>
            <p:cNvGrpSpPr/>
            <p:nvPr/>
          </p:nvGrpSpPr>
          <p:grpSpPr>
            <a:xfrm>
              <a:off x="2545545" y="1057196"/>
              <a:ext cx="1381568" cy="726610"/>
              <a:chOff x="3768066" y="2402040"/>
              <a:chExt cx="1649602" cy="806635"/>
            </a:xfrm>
          </p:grpSpPr>
          <p:pic>
            <p:nvPicPr>
              <p:cNvPr id="54" name="圖片 5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55" name="文字方塊 54"/>
              <p:cNvSpPr txBox="1"/>
              <p:nvPr/>
            </p:nvSpPr>
            <p:spPr>
              <a:xfrm>
                <a:off x="4355688" y="2640736"/>
                <a:ext cx="1061980" cy="495426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8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eMap</a:t>
                </a:r>
                <a:r>
                  <a:rPr kumimoji="0" lang="en-US" altLang="zh-TW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en-US" altLang="zh-TW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GIS</a:t>
                </a:r>
                <a:r>
                  <a:rPr kumimoji="0" lang="zh-TW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地圖</a:t>
                </a:r>
                <a:endParaRPr kumimoji="0" lang="en-US" altLang="zh-TW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門牌定位模組</a:t>
                </a:r>
                <a:endParaRPr kumimoji="0" lang="en-US" altLang="zh-TW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AP</a:t>
                </a:r>
                <a:r>
                  <a:rPr kumimoji="0" lang="en-US" altLang="zh-TW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+</a:t>
                </a:r>
                <a:r>
                  <a:rPr kumimoji="0" lang="zh-TW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en-US" altLang="zh-TW" sz="7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Web Server</a:t>
                </a:r>
                <a:endParaRPr kumimoji="0" lang="zh-TW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53" name="Picture 8" descr="C:\Users\Sophia\Documents\簡報圖示\1352356870_keyboard_layout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4742" y="1483361"/>
              <a:ext cx="224183" cy="2375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群組 55"/>
          <p:cNvGrpSpPr/>
          <p:nvPr/>
        </p:nvGrpSpPr>
        <p:grpSpPr>
          <a:xfrm>
            <a:off x="6207736" y="1451419"/>
            <a:ext cx="1375073" cy="726610"/>
            <a:chOff x="4538152" y="1090803"/>
            <a:chExt cx="1375073" cy="726610"/>
          </a:xfrm>
        </p:grpSpPr>
        <p:grpSp>
          <p:nvGrpSpPr>
            <p:cNvPr id="57" name="群組 56"/>
            <p:cNvGrpSpPr/>
            <p:nvPr/>
          </p:nvGrpSpPr>
          <p:grpSpPr>
            <a:xfrm>
              <a:off x="4538152" y="1090803"/>
              <a:ext cx="1375073" cy="726610"/>
              <a:chOff x="3768066" y="2402040"/>
              <a:chExt cx="1641847" cy="806635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60" name="文字方塊 59"/>
              <p:cNvSpPr txBox="1"/>
              <p:nvPr/>
            </p:nvSpPr>
            <p:spPr>
              <a:xfrm>
                <a:off x="4352500" y="2637661"/>
                <a:ext cx="1057413" cy="410008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lvl="0" defTabSz="914355">
                  <a:buClr>
                    <a:srgbClr val="FFFFFF"/>
                  </a:buClr>
                  <a:buSzPts val="1300"/>
                  <a:defRPr/>
                </a:pPr>
                <a:r>
                  <a:rPr lang="zh-TW" altLang="en-US" sz="900" kern="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Arial"/>
                    <a:sym typeface="Arial"/>
                  </a:rPr>
                  <a:t>臺銀前置網頁</a:t>
                </a:r>
                <a:endParaRPr lang="en-US" altLang="zh-TW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AP </a:t>
                </a: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cs typeface="Arial"/>
                    <a:sym typeface="Arial"/>
                  </a:rPr>
                  <a:t>Server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58" name="圖片 5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6156" y="1448510"/>
              <a:ext cx="279257" cy="283708"/>
            </a:xfrm>
            <a:prstGeom prst="rect">
              <a:avLst/>
            </a:prstGeom>
          </p:spPr>
        </p:pic>
      </p:grpSp>
      <p:grpSp>
        <p:nvGrpSpPr>
          <p:cNvPr id="61" name="群組 60"/>
          <p:cNvGrpSpPr/>
          <p:nvPr/>
        </p:nvGrpSpPr>
        <p:grpSpPr>
          <a:xfrm>
            <a:off x="6195768" y="2517669"/>
            <a:ext cx="1375736" cy="726610"/>
            <a:chOff x="4526184" y="2137415"/>
            <a:chExt cx="1375736" cy="726610"/>
          </a:xfrm>
        </p:grpSpPr>
        <p:grpSp>
          <p:nvGrpSpPr>
            <p:cNvPr id="62" name="群組 61"/>
            <p:cNvGrpSpPr/>
            <p:nvPr/>
          </p:nvGrpSpPr>
          <p:grpSpPr>
            <a:xfrm>
              <a:off x="4526184" y="2137415"/>
              <a:ext cx="1375736" cy="726610"/>
              <a:chOff x="3768066" y="2402040"/>
              <a:chExt cx="1642639" cy="806635"/>
            </a:xfrm>
          </p:grpSpPr>
          <p:pic>
            <p:nvPicPr>
              <p:cNvPr id="64" name="圖片 6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8066" y="2402040"/>
                <a:ext cx="806635" cy="806635"/>
              </a:xfrm>
              <a:prstGeom prst="rect">
                <a:avLst/>
              </a:prstGeom>
            </p:spPr>
          </p:pic>
          <p:sp>
            <p:nvSpPr>
              <p:cNvPr id="65" name="文字方塊 64"/>
              <p:cNvSpPr txBox="1"/>
              <p:nvPr/>
            </p:nvSpPr>
            <p:spPr>
              <a:xfrm>
                <a:off x="4353292" y="2594583"/>
                <a:ext cx="1057413" cy="563761"/>
              </a:xfrm>
              <a:prstGeom prst="rect">
                <a:avLst/>
              </a:prstGeom>
              <a:solidFill>
                <a:srgbClr val="31528D"/>
              </a:solidFill>
              <a:ln>
                <a:solidFill>
                  <a:sysClr val="windowText" lastClr="000000">
                    <a:lumMod val="75000"/>
                    <a:lumOff val="25000"/>
                  </a:sys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algn="ctr">
                  <a:defRPr sz="16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門牌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定位模組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鑑價模型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  <a:p>
                <a:pPr marL="0" marR="0" lvl="0" indent="0" algn="ctr" defTabSz="91435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AP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Server</a:t>
                </a:r>
                <a:r>
                  <a:rPr kumimoji="0" lang="zh-TW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Arial"/>
                    <a:sym typeface="Arial"/>
                  </a:rPr>
                  <a:t> </a:t>
                </a:r>
                <a:endPara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/>
                  <a:sym typeface="Arial"/>
                </a:endParaRPr>
              </a:p>
            </p:txBody>
          </p:sp>
        </p:grpSp>
        <p:pic>
          <p:nvPicPr>
            <p:cNvPr id="63" name="圖片 6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6308" y="2560824"/>
              <a:ext cx="279257" cy="283708"/>
            </a:xfrm>
            <a:prstGeom prst="rect">
              <a:avLst/>
            </a:prstGeom>
          </p:spPr>
        </p:pic>
      </p:grpSp>
      <p:pic>
        <p:nvPicPr>
          <p:cNvPr id="66" name="圖片 6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191" y="4072836"/>
            <a:ext cx="227391" cy="231015"/>
          </a:xfrm>
          <a:prstGeom prst="rect">
            <a:avLst/>
          </a:prstGeom>
        </p:spPr>
      </p:pic>
      <p:cxnSp>
        <p:nvCxnSpPr>
          <p:cNvPr id="67" name="Google Shape;118;p13"/>
          <p:cNvCxnSpPr/>
          <p:nvPr/>
        </p:nvCxnSpPr>
        <p:spPr>
          <a:xfrm>
            <a:off x="3760123" y="1358175"/>
            <a:ext cx="0" cy="304560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8" name="肘形接點 67"/>
          <p:cNvCxnSpPr>
            <a:stCxn id="10" idx="3"/>
            <a:endCxn id="59" idx="1"/>
          </p:cNvCxnSpPr>
          <p:nvPr/>
        </p:nvCxnSpPr>
        <p:spPr>
          <a:xfrm flipV="1">
            <a:off x="5590203" y="1814724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>
            <a:off x="4446671" y="2145015"/>
            <a:ext cx="0" cy="43200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70" name="直線單箭頭接點 69"/>
          <p:cNvCxnSpPr>
            <a:stCxn id="65" idx="3"/>
            <a:endCxn id="45" idx="1"/>
          </p:cNvCxnSpPr>
          <p:nvPr/>
        </p:nvCxnSpPr>
        <p:spPr>
          <a:xfrm flipV="1">
            <a:off x="7571504" y="2932488"/>
            <a:ext cx="432000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71" name="Google Shape;118;p13"/>
          <p:cNvCxnSpPr/>
          <p:nvPr/>
        </p:nvCxnSpPr>
        <p:spPr>
          <a:xfrm>
            <a:off x="5891937" y="1324885"/>
            <a:ext cx="0" cy="3045600"/>
          </a:xfrm>
          <a:prstGeom prst="straightConnector1">
            <a:avLst/>
          </a:prstGeom>
          <a:noFill/>
          <a:ln w="12700" cap="flat" cmpd="sng">
            <a:solidFill>
              <a:srgbClr val="C00000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72" name="肘形接點 71"/>
          <p:cNvCxnSpPr/>
          <p:nvPr/>
        </p:nvCxnSpPr>
        <p:spPr>
          <a:xfrm flipV="1">
            <a:off x="5590203" y="2880974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sp>
        <p:nvSpPr>
          <p:cNvPr id="73" name="Google Shape;120;p13"/>
          <p:cNvSpPr txBox="1"/>
          <p:nvPr/>
        </p:nvSpPr>
        <p:spPr>
          <a:xfrm>
            <a:off x="5792421" y="1975954"/>
            <a:ext cx="208094" cy="70326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ctr" anchorCtr="1">
            <a:noAutofit/>
          </a:bodyPr>
          <a:lstStyle/>
          <a:p>
            <a:pPr algn="ctr" defTabSz="914378">
              <a:buClr>
                <a:srgbClr val="3F3F3F"/>
              </a:buClr>
              <a:buSzPts val="1500"/>
              <a:buFont typeface="Arial"/>
              <a:buNone/>
            </a:pPr>
            <a:r>
              <a:rPr lang="zh-TW" altLang="en-US" sz="900" b="1" kern="0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內</a:t>
            </a:r>
            <a:r>
              <a:rPr lang="zh-TW" altLang="en-US" sz="900" b="1" kern="0" dirty="0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網</a:t>
            </a:r>
            <a:r>
              <a:rPr lang="zh-TW" altLang="en-US" sz="900" b="1" kern="0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防火牆</a:t>
            </a:r>
            <a:endParaRPr sz="700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74" name="直線單箭頭接點 73"/>
          <p:cNvCxnSpPr/>
          <p:nvPr/>
        </p:nvCxnSpPr>
        <p:spPr>
          <a:xfrm flipV="1">
            <a:off x="7551678" y="4071717"/>
            <a:ext cx="432000" cy="0"/>
          </a:xfrm>
          <a:prstGeom prst="straightConnector1">
            <a:avLst/>
          </a:prstGeom>
          <a:noFill/>
          <a:ln w="9525" cap="flat" cmpd="sng" algn="ctr">
            <a:solidFill>
              <a:srgbClr val="6997AF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75" name="肘形接點 74"/>
          <p:cNvCxnSpPr/>
          <p:nvPr/>
        </p:nvCxnSpPr>
        <p:spPr>
          <a:xfrm flipV="1">
            <a:off x="5551015" y="4061697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6997AF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76" name="Google Shape;120;p13"/>
          <p:cNvSpPr txBox="1"/>
          <p:nvPr/>
        </p:nvSpPr>
        <p:spPr>
          <a:xfrm>
            <a:off x="3653126" y="1975954"/>
            <a:ext cx="208094" cy="70326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" tIns="34275" rIns="27000" bIns="34275" anchor="ctr" anchorCtr="1">
            <a:noAutofit/>
          </a:bodyPr>
          <a:lstStyle/>
          <a:p>
            <a:pPr algn="ctr" defTabSz="914378">
              <a:buClr>
                <a:srgbClr val="3F3F3F"/>
              </a:buClr>
              <a:buSzPts val="1500"/>
              <a:buFont typeface="Arial"/>
              <a:buNone/>
            </a:pPr>
            <a:r>
              <a:rPr lang="zh-TW" altLang="en-US" sz="900" b="1" kern="0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外網防火牆</a:t>
            </a:r>
            <a:endParaRPr sz="700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77" name="肘形接點 76"/>
          <p:cNvCxnSpPr/>
          <p:nvPr/>
        </p:nvCxnSpPr>
        <p:spPr>
          <a:xfrm flipH="1" flipV="1">
            <a:off x="5583170" y="3057926"/>
            <a:ext cx="617533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78" name="肘形接點 77"/>
          <p:cNvCxnSpPr>
            <a:stCxn id="12" idx="0"/>
            <a:endCxn id="9" idx="1"/>
          </p:cNvCxnSpPr>
          <p:nvPr/>
        </p:nvCxnSpPr>
        <p:spPr>
          <a:xfrm rot="5400000" flipH="1" flipV="1">
            <a:off x="3204211" y="1379806"/>
            <a:ext cx="576000" cy="1445837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81" name="肘形接點 80"/>
          <p:cNvCxnSpPr/>
          <p:nvPr/>
        </p:nvCxnSpPr>
        <p:spPr>
          <a:xfrm flipH="1" flipV="1">
            <a:off x="3351130" y="2880974"/>
            <a:ext cx="864000" cy="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tailEnd type="triangle"/>
          </a:ln>
          <a:effectLst/>
        </p:spPr>
      </p:cxnSp>
      <p:cxnSp>
        <p:nvCxnSpPr>
          <p:cNvPr id="82" name="肘形接點 81"/>
          <p:cNvCxnSpPr/>
          <p:nvPr/>
        </p:nvCxnSpPr>
        <p:spPr>
          <a:xfrm rot="10800000">
            <a:off x="3351018" y="2880974"/>
            <a:ext cx="864000" cy="1152000"/>
          </a:xfrm>
          <a:prstGeom prst="bentConnector3">
            <a:avLst>
              <a:gd name="adj1" fmla="val 27386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87" name="肘形接點 86"/>
          <p:cNvCxnSpPr>
            <a:stCxn id="54" idx="0"/>
            <a:endCxn id="45" idx="2"/>
          </p:cNvCxnSpPr>
          <p:nvPr/>
        </p:nvCxnSpPr>
        <p:spPr>
          <a:xfrm rot="5400000" flipH="1" flipV="1">
            <a:off x="7173372" y="2539793"/>
            <a:ext cx="396000" cy="190800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6594AD"/>
            </a:solidFill>
            <a:prstDash val="solid"/>
            <a:tailEnd type="triangle"/>
          </a:ln>
          <a:effectLst/>
        </p:spPr>
      </p:cxnSp>
      <p:cxnSp>
        <p:nvCxnSpPr>
          <p:cNvPr id="88" name="肘形接點 87"/>
          <p:cNvCxnSpPr/>
          <p:nvPr/>
        </p:nvCxnSpPr>
        <p:spPr>
          <a:xfrm rot="16200000" flipH="1">
            <a:off x="6407825" y="2449463"/>
            <a:ext cx="3908" cy="3792106"/>
          </a:xfrm>
          <a:prstGeom prst="bentConnector3">
            <a:avLst>
              <a:gd name="adj1" fmla="val 5949539"/>
            </a:avLst>
          </a:prstGeom>
          <a:noFill/>
          <a:ln w="9525" cap="flat" cmpd="sng" algn="ctr">
            <a:solidFill>
              <a:srgbClr val="6594AD"/>
            </a:solidFill>
            <a:prstDash val="solid"/>
            <a:tailEnd type="triangle"/>
          </a:ln>
          <a:effectLst/>
        </p:spPr>
      </p:cxnSp>
      <p:sp>
        <p:nvSpPr>
          <p:cNvPr id="91" name="矩形 90"/>
          <p:cNvSpPr/>
          <p:nvPr/>
        </p:nvSpPr>
        <p:spPr>
          <a:xfrm>
            <a:off x="2214758" y="4427658"/>
            <a:ext cx="266767" cy="229249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92" name="文字方塊 91"/>
          <p:cNvSpPr txBox="1"/>
          <p:nvPr/>
        </p:nvSpPr>
        <p:spPr>
          <a:xfrm>
            <a:off x="2423795" y="4427658"/>
            <a:ext cx="1524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本次</a:t>
            </a:r>
            <a:r>
              <a:rPr lang="zh-TW" altLang="en-US" sz="105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專案範疇</a:t>
            </a:r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991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205</Words>
  <Application>Microsoft Office PowerPoint</Application>
  <PresentationFormat>寬螢幕</PresentationFormat>
  <Paragraphs>52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微軟正黑體</vt:lpstr>
      <vt:lpstr>新細明體</vt:lpstr>
      <vt:lpstr>Arial</vt:lpstr>
      <vt:lpstr>Calibri</vt:lpstr>
      <vt:lpstr>Calibri Light</vt:lpstr>
      <vt:lpstr>Helvetica</vt:lpstr>
      <vt:lpstr>Wingdings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AmieeKuo</dc:creator>
  <cp:lastModifiedBy>簡孝竑(142476)</cp:lastModifiedBy>
  <cp:revision>4</cp:revision>
  <dcterms:created xsi:type="dcterms:W3CDTF">2021-04-23T10:34:10Z</dcterms:created>
  <dcterms:modified xsi:type="dcterms:W3CDTF">2021-04-26T08:04:49Z</dcterms:modified>
</cp:coreProperties>
</file>